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84158" cy="30275784"/>
  <p:notesSz cx="30275784" cy="2138415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84158" cy="475488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195553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PERÚ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960120"/>
            <a:ext cx="195553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e Ingeniería  ·  Ingeniería de las Telecomunicaciones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1955535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una red IEEE 802.11ac para la teleoperación de un vehículo LHD</a:t>
            </a:r>
            <a:endParaRPr lang="en-US" sz="3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la extracción de mineral en galerías subterráneas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195553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Adrián Álvaro López Pascual</a:t>
            </a:r>
            <a:pPr algn="ctr" indent="0" marL="0">
              <a:buNone/>
            </a:pPr>
            <a:r>
              <a:rPr lang="en-US" sz="17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Asesor: Dr. Pastor David Chávez Muñoz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195553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XpoSTEM · Trabajo de Tesis 2 · a.lopezp@pucp.edu.pe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5212080"/>
            <a:ext cx="9411919" cy="77724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5257800"/>
            <a:ext cx="88632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6144768"/>
            <a:ext cx="9411919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operación manual de vehículos de carga LHD en minería subterránea expone al operador a desprendimientos, gases y tránsito de maquinaria. Este trabajo diseña y valida por simulación una red IEEE 802.11ac que habilita la teleoperación del vehículo desde superficie, transmitiendo vídeo, comandos y telemetría. La validación se realiza sobre la geometría real del nivel NV1640 (Nexa Cerro Lindo) mediante simulación de red NS-3. Todos los indicadores de desempeño se cumplen con margen y respaldo estadístico.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8988552"/>
            <a:ext cx="9411919" cy="77724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9034272"/>
            <a:ext cx="88632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Palabras clave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9921240"/>
            <a:ext cx="9411919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Teleoperación · IEEE 802.11ac · minería subterránea · LHD · propagación en túnel · calidad de servicio · simulación NS-3.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11119104"/>
            <a:ext cx="9411919" cy="77724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11164824"/>
            <a:ext cx="88632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Introducción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12051792"/>
            <a:ext cx="9411919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teleoperación retira al trabajador del frente de riesgo, pero exige una red que sostenga vídeo de conducción en tiempo real, comandos de baja latencia y telemetría continua, en un medio confinado con reflexiones, curvas, intersecciones y movilidad del nodo embarcado. El caso de estudio es el nivel NV1640 de la mina Nexa Cerro Lindo, con layout de block caving tipo El Teniente.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14346936"/>
            <a:ext cx="9411919" cy="77724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14392656"/>
            <a:ext cx="88632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Antecedentes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15279624"/>
            <a:ext cx="9411919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realizó una revisión sistemática (método Kitchenham) de tecnologías de comunicación en túneles y minas. Frente a LPWAN/WSN (sin capacidad de vídeo), LTE/5G privado (mayor complejidad) y comunicación óptica (sensible a alineamiento), se selecciona 802.11ac industrial por su capacidad, disponibilidad de equipos y soporte de priorización de tráfico. La propagación se modela con un enfoque two-slope calibrado contra el site survey TamoGraph.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17849088"/>
            <a:ext cx="9411919" cy="77724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17894808"/>
            <a:ext cx="88632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Objetivos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18781776"/>
            <a:ext cx="9411919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Caracterizar el canal de propagación en las galerías.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arquitectura física y lógica de la red.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Dimensionar el subsistema de radio y antenas.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las políticas de QoS y movilidad.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desempeño extremo a extremo por simulación.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la viabilidad técnico-económica.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4400" y="21497544"/>
            <a:ext cx="9411919" cy="77724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24" name="Text 22"/>
          <p:cNvSpPr/>
          <p:nvPr/>
        </p:nvSpPr>
        <p:spPr>
          <a:xfrm>
            <a:off x="1234440" y="21543264"/>
            <a:ext cx="88632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Metodología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" y="22430232"/>
            <a:ext cx="9411919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aplicó Design Thinking: (1) empatizar con el operador y su riesgo; (2) definir requisitos y KPIs; (3) idear y comparar tecnologías; (4) prototipar en NS-3 sobre la geometría real; (5) validar contra TamoGraph. La red integra un backbone de fibra óptica en anillo y una malla de acceso de 12 puntos (5 AP Hawk de 30 dBm + 7 AP Cardinal de 23 dBm), con el LHD embarcando un radio y antena HELI-40. Se ejecutaron 18 simulaciones de 300 s (10 semillas de operación + referencia + estrés + traspaso).</a:t>
            </a:r>
            <a:endParaRPr lang="en-US" sz="1500" dirty="0"/>
          </a:p>
        </p:txBody>
      </p:sp>
      <p:pic>
        <p:nvPicPr>
          <p:cNvPr id="26" name="Image 0" descr="C:/Users/Adrian Lopez/Documents/tesis_proyecto/fase4/presentacion/arquitectura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4999696"/>
            <a:ext cx="9046159" cy="818971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14400" y="33299142"/>
            <a:ext cx="94119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1. Arquitectura de red en tres capas con clases de servicio (QoS).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14400" y="34167822"/>
            <a:ext cx="9411919" cy="77724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29" name="Text 26"/>
          <p:cNvSpPr/>
          <p:nvPr/>
        </p:nvSpPr>
        <p:spPr>
          <a:xfrm>
            <a:off x="1234440" y="34213542"/>
            <a:ext cx="88632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 Discusión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914400" y="35100510"/>
            <a:ext cx="9411919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privilegia un roaming estable (make-before-break) sobre la persecución del AP más cercano, evitando micro-cortes por reasociación. Los escenarios de estrés (vídeo a 50 Mbps, velocidad a 4 m/s) mantienen los criterios, evidenciando margen de dimensionamiento. El modelo es determinista y conservador: el equipo de malla industrial real sólo puede mejorar estos resultados. La validación es de diseño; las pruebas de campo se identifican como trabajo posterior.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11057839" y="5212080"/>
            <a:ext cx="9411919" cy="77724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32" name="Text 29"/>
          <p:cNvSpPr/>
          <p:nvPr/>
        </p:nvSpPr>
        <p:spPr>
          <a:xfrm>
            <a:off x="11377879" y="5257800"/>
            <a:ext cx="88632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Resultados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11057839" y="6144768"/>
            <a:ext cx="9411919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geometría real de la zona de producción, todos los indicadores de desempeño se cumplen con margen, reportados como media e intervalo de confianza al 95 % sobre 10 semillas independientes: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11057839" y="7616952"/>
            <a:ext cx="2984906" cy="1645920"/>
          </a:xfrm>
          <a:prstGeom prst="roundRect">
            <a:avLst>
              <a:gd name="adj" fmla="val 4444"/>
            </a:avLst>
          </a:prstGeom>
          <a:solidFill>
            <a:srgbClr val="EAF2FB"/>
          </a:solidFill>
          <a:ln/>
        </p:spPr>
      </p:sp>
      <p:sp>
        <p:nvSpPr>
          <p:cNvPr id="35" name="Text 32"/>
          <p:cNvSpPr/>
          <p:nvPr/>
        </p:nvSpPr>
        <p:spPr>
          <a:xfrm>
            <a:off x="11057839" y="7799832"/>
            <a:ext cx="298490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3.04 ms</a:t>
            </a:r>
            <a:endParaRPr lang="en-US" sz="2600" dirty="0"/>
          </a:p>
        </p:txBody>
      </p:sp>
      <p:sp>
        <p:nvSpPr>
          <p:cNvPr id="36" name="Text 33"/>
          <p:cNvSpPr/>
          <p:nvPr/>
        </p:nvSpPr>
        <p:spPr>
          <a:xfrm>
            <a:off x="11149279" y="8531352"/>
            <a:ext cx="280202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OWD comandos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(≤ 20 ms)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14271346" y="7616952"/>
            <a:ext cx="2984906" cy="1645920"/>
          </a:xfrm>
          <a:prstGeom prst="roundRect">
            <a:avLst>
              <a:gd name="adj" fmla="val 4444"/>
            </a:avLst>
          </a:prstGeom>
          <a:solidFill>
            <a:srgbClr val="EAF2FB"/>
          </a:solidFill>
          <a:ln/>
        </p:spPr>
      </p:sp>
      <p:sp>
        <p:nvSpPr>
          <p:cNvPr id="38" name="Text 35"/>
          <p:cNvSpPr/>
          <p:nvPr/>
        </p:nvSpPr>
        <p:spPr>
          <a:xfrm>
            <a:off x="14271346" y="7799832"/>
            <a:ext cx="298490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35.9 ms</a:t>
            </a:r>
            <a:endParaRPr lang="en-US" sz="2600" dirty="0"/>
          </a:p>
        </p:txBody>
      </p:sp>
      <p:sp>
        <p:nvSpPr>
          <p:cNvPr id="39" name="Text 36"/>
          <p:cNvSpPr/>
          <p:nvPr/>
        </p:nvSpPr>
        <p:spPr>
          <a:xfrm>
            <a:off x="14362786" y="8531352"/>
            <a:ext cx="280202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vídeo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(≤ 150 ms)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17484852" y="7616952"/>
            <a:ext cx="2984906" cy="1645920"/>
          </a:xfrm>
          <a:prstGeom prst="roundRect">
            <a:avLst>
              <a:gd name="adj" fmla="val 4444"/>
            </a:avLst>
          </a:prstGeom>
          <a:solidFill>
            <a:srgbClr val="EAF2FB"/>
          </a:solidFill>
          <a:ln/>
        </p:spPr>
      </p:sp>
      <p:sp>
        <p:nvSpPr>
          <p:cNvPr id="41" name="Text 38"/>
          <p:cNvSpPr/>
          <p:nvPr/>
        </p:nvSpPr>
        <p:spPr>
          <a:xfrm>
            <a:off x="17484852" y="7799832"/>
            <a:ext cx="298490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2600" dirty="0"/>
          </a:p>
        </p:txBody>
      </p:sp>
      <p:sp>
        <p:nvSpPr>
          <p:cNvPr id="42" name="Text 39"/>
          <p:cNvSpPr/>
          <p:nvPr/>
        </p:nvSpPr>
        <p:spPr>
          <a:xfrm>
            <a:off x="17576292" y="8531352"/>
            <a:ext cx="280202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(≥ 99.9 %)</a:t>
            </a:r>
            <a:endParaRPr lang="en-US" sz="1200" dirty="0"/>
          </a:p>
        </p:txBody>
      </p:sp>
      <p:pic>
        <p:nvPicPr>
          <p:cNvPr id="43" name="Image 1" descr="C:/Users/Adrian Lopez/Documents/tesis_proyecto/fase4/presentacion/escena_mina_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839" y="9628632"/>
            <a:ext cx="9411919" cy="4678457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11057839" y="14416817"/>
            <a:ext cx="94119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2. Entorno 3D: galerías reales, 12 AP y patrón de radiación de la antena del LHD (MATLAB).</a:t>
            </a:r>
            <a:endParaRPr lang="en-US" sz="1200" dirty="0"/>
          </a:p>
        </p:txBody>
      </p:sp>
      <p:pic>
        <p:nvPicPr>
          <p:cNvPr id="45" name="Image 2" descr="C:/Users/Adrian Lopez/Documents/tesis_proyecto/fase4/presentacion/grafico_rssi_asociad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7839" y="15285497"/>
            <a:ext cx="9411919" cy="5358025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11057839" y="20753250"/>
            <a:ext cx="94119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3. RSSI del enlace asociado: nunca cae de −72.1 dBm (9.9 dB de margen sobre el umbral).</a:t>
            </a:r>
            <a:endParaRPr lang="en-US" sz="1200" dirty="0"/>
          </a:p>
        </p:txBody>
      </p:sp>
      <p:sp>
        <p:nvSpPr>
          <p:cNvPr id="47" name="Shape 42"/>
          <p:cNvSpPr/>
          <p:nvPr/>
        </p:nvSpPr>
        <p:spPr>
          <a:xfrm>
            <a:off x="11057839" y="21621930"/>
            <a:ext cx="9411919" cy="77724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48" name="Text 43"/>
          <p:cNvSpPr/>
          <p:nvPr/>
        </p:nvSpPr>
        <p:spPr>
          <a:xfrm>
            <a:off x="11377879" y="21667650"/>
            <a:ext cx="88632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 Conclusiones</a:t>
            </a:r>
            <a:endParaRPr lang="en-US" sz="2200" dirty="0"/>
          </a:p>
        </p:txBody>
      </p:sp>
      <p:sp>
        <p:nvSpPr>
          <p:cNvPr id="49" name="Text 44"/>
          <p:cNvSpPr/>
          <p:nvPr/>
        </p:nvSpPr>
        <p:spPr>
          <a:xfrm>
            <a:off x="11057839" y="22554618"/>
            <a:ext cx="9411919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IEEE 802.11ac diseñada es idónea para la teleoperación del LHD en el nivel NV1640: cumple todos los KPIs con respaldo estadístico, es económicamente incremental sobre la infraestructura existente, cumple el marco regulatorio (banda 5 GHz de uso libre; reglamento de seguridad minera) y aporta un beneficio ético directo — retirar al trabajador de la zona de riesgo. Constituye un camino replicable hacia una minería peruana más segura.</a:t>
            </a:r>
            <a:endParaRPr lang="en-US" sz="1500" dirty="0"/>
          </a:p>
        </p:txBody>
      </p:sp>
      <p:sp>
        <p:nvSpPr>
          <p:cNvPr id="50" name="Shape 45"/>
          <p:cNvSpPr/>
          <p:nvPr/>
        </p:nvSpPr>
        <p:spPr>
          <a:xfrm>
            <a:off x="11057839" y="25124082"/>
            <a:ext cx="9411919" cy="77724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51" name="Text 46"/>
          <p:cNvSpPr/>
          <p:nvPr/>
        </p:nvSpPr>
        <p:spPr>
          <a:xfrm>
            <a:off x="11377879" y="25169802"/>
            <a:ext cx="88632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 Agradecimientos</a:t>
            </a:r>
            <a:endParaRPr lang="en-US" sz="2200" dirty="0"/>
          </a:p>
        </p:txBody>
      </p:sp>
      <p:sp>
        <p:nvSpPr>
          <p:cNvPr id="52" name="Text 47"/>
          <p:cNvSpPr/>
          <p:nvPr/>
        </p:nvSpPr>
        <p:spPr>
          <a:xfrm>
            <a:off x="11057839" y="26056770"/>
            <a:ext cx="9411919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Dr. Pastor David Chávez Muñoz por su asesoría, y a la PUCP por la formación recibida.</a:t>
            </a:r>
            <a:endParaRPr lang="en-US" sz="1400" dirty="0"/>
          </a:p>
        </p:txBody>
      </p:sp>
      <p:sp>
        <p:nvSpPr>
          <p:cNvPr id="53" name="Shape 48"/>
          <p:cNvSpPr/>
          <p:nvPr/>
        </p:nvSpPr>
        <p:spPr>
          <a:xfrm>
            <a:off x="11057839" y="27254634"/>
            <a:ext cx="9411919" cy="77724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54" name="Text 49"/>
          <p:cNvSpPr/>
          <p:nvPr/>
        </p:nvSpPr>
        <p:spPr>
          <a:xfrm>
            <a:off x="11377879" y="27300354"/>
            <a:ext cx="886327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 Referencias</a:t>
            </a:r>
            <a:endParaRPr lang="en-US" sz="2200" dirty="0"/>
          </a:p>
        </p:txBody>
      </p:sp>
      <p:sp>
        <p:nvSpPr>
          <p:cNvPr id="55" name="Text 50"/>
          <p:cNvSpPr/>
          <p:nvPr/>
        </p:nvSpPr>
        <p:spPr>
          <a:xfrm>
            <a:off x="11057839" y="28187322"/>
            <a:ext cx="9411919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Z. Sun, I. F. Akyildiz, «Channel Modeling for Wireless Networks in Tunnels», IEEE Trans. Commun., 2010.</a:t>
            </a:r>
            <a:endParaRPr lang="en-US" sz="1200" dirty="0"/>
          </a:p>
          <a:p>
            <a:pPr algn="just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Rajant, «InstaMesh Whitepaper», 2015.</a:t>
            </a:r>
            <a:endParaRPr lang="en-US" sz="1200" dirty="0"/>
          </a:p>
          <a:p>
            <a:pPr algn="just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E. Egea-López et al., «Wireless Communications in Underground Mines», 2019.</a:t>
            </a:r>
            <a:endParaRPr lang="en-US" sz="1200" dirty="0"/>
          </a:p>
          <a:p>
            <a:pPr algn="just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The ns-3 Consortium, «ns-3.40 Documentation», 2024.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Pontificia Universidad Católica del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Póster XpoSTEM — Red IEEE 802.11ac para teleoperación de LHD</dc:title>
  <dc:subject> Presentation</dc:subject>
  <dc:creator>Adrián Álvaro López Pascual</dc:creator>
  <cp:lastModifiedBy>Adrián Álvaro López Pascual</cp:lastModifiedBy>
  <cp:revision>1</cp:revision>
  <dcterms:created xsi:type="dcterms:W3CDTF">2026-07-17T04:32:34Z</dcterms:created>
  <dcterms:modified xsi:type="dcterms:W3CDTF">2026-07-17T04:32:34Z</dcterms:modified>
</cp:coreProperties>
</file>