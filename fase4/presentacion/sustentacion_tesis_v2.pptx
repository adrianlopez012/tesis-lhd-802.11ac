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Panel (a): la latencia de cada flujo con la dispersión de las 10 semillas — las cajas son diminutas: el resultado es estable, no una corrida afortunada. Comandos y telemetría ~3 ms, vídeo 36 ms. Panel (b): los 4 escenarios — bajo estrés de vídeo los comandos suben de 3.0 a 6.8 ms (×2.3) pero NUNCA se acercan al límite de 20: la clase AC_VO los protege. Pregunta anticipada '¿por qué la telemetría no tiene prioridad?': es tolerante al retardo (datos de estado); lo crítico es el mando. Y aun en AC_BE mide 3.08 ms — la prioridad es un seguro para cuando hay presión.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segundos. Justificación de cada antena según datasheet Poynting: el Hawk lleva el PAR RCP-50 LHP + RHP (11 dBi, BIDIRECCIONAL, 'Mine/tunnel installations'): dos lóbulos que cubren la galería en AMBOS sentidos, y las dos polarizaciones circulares (izquierda y derecha) dan la diversidad para los 2 streams MIMO — por eso va en los TRAMOS LARGOS. El Cardinal usa la EPNT-7 omni para los cruceros. El LHD lleva la HELI-40 (4.8 dBic), también bidireccional — el vehículo avanza y retrocede. La polarización circular mitiga el multitrayecto de la roca. Patrones calculados por método de momentos; los bidireccionales sintetizados según especificación.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 — la slide que blinda el modelo ante el jurado. Justificación paso a paso: (1) construí la galería en 3D con propiedades de roca (permitividad 6, conductividad 0.01 S/m); (2) lancé ray-tracing SBR con hasta 6 reflexiones; (3) en campo cercano AMBOS métodos coinciden (error ~5 dB) — el modelo queda validado por un método independiente; (4) a larga distancia el ray-tracing pierde los rayos porque no modela el guiado de onda del túnel — limitación documentada en la literatura — lo que JUSTIFICA usar el two-slope calibrado con el survey real. Doble validación + honestidad metodológica.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6093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60120" y="20482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9067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60120" y="352958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720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" y="50109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cumplen.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62763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motivación con raíz personal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048256"/>
            <a:ext cx="4892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Nací en una tierra donde la minería marca la vida de las familias. Crecí sabiendo lo que significa que alguien entre a una labor subterránea — y esta carrera me dio la forma de devolver algo: usar las telecomunicaciones para cuidar a esas personas.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977640"/>
            <a:ext cx="5394960" cy="2103120"/>
          </a:xfrm>
          <a:prstGeom prst="roundRect">
            <a:avLst>
              <a:gd name="adj" fmla="val 1304"/>
            </a:avLst>
          </a:prstGeom>
          <a:solidFill>
            <a:srgbClr val="FDF3E7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160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4590288"/>
            <a:ext cx="4892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se registran víctimas mortales en la minería peruana; una parte importante ocurre en el frente de operación, justo donde trabaja el operador del LHD (OSINERGMIN).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594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2400"/>
            </a:avLst>
          </a:prstGeom>
          <a:solidFill>
            <a:srgbClr val="0033A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16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9516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9516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13816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44368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072384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956048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02936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202936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330952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7214616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61504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461504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589520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9473184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20072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720072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848088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1538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Video: recorrido del LHD teleoperado — animación 3D con datos reales de la simulación (AP servidor y RSSI en vivo)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2609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15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prioridad WMM protege lo crítico — con 10 semillas de evidencia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mm_semil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9235440" cy="4389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921240" y="1600200"/>
            <a:ext cx="1783080" cy="438912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58400" y="1783080"/>
            <a:ext cx="1536192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lectura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diminutas = resultados estables entre semillas.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estrés, los comandos suben a 6.8 ms — lejos del límite de 20.
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presión va a la latencia, nunca a las pérdidas.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5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antenas del diseño y sus patrones 3D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atron3d_haw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794760" cy="3063240"/>
          </a:xfrm>
          <a:prstGeom prst="rect">
            <a:avLst/>
          </a:prstGeom>
        </p:spPr>
      </p:pic>
      <p:pic>
        <p:nvPicPr>
          <p:cNvPr id="4" name="Image 1" descr="C:/Users/Adrian Lopez/Documents/tesis_proyecto/fase4/presentacion/patron3d_card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54480"/>
            <a:ext cx="3794760" cy="3063240"/>
          </a:xfrm>
          <a:prstGeom prst="rect">
            <a:avLst/>
          </a:prstGeom>
        </p:spPr>
      </p:pic>
      <p:pic>
        <p:nvPicPr>
          <p:cNvPr id="5" name="Image 2" descr="C:/Users/Adrian Lopez/Documents/tesis_proyecto/fase4/presentacion/patron3d_l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554480"/>
            <a:ext cx="3337560" cy="306324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50292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68580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 — RCP-50 LHP/RHP (par)</a:t>
            </a:r>
            <a:endParaRPr lang="en-US" sz="1250" dirty="0"/>
          </a:p>
        </p:txBody>
      </p:sp>
      <p:sp>
        <p:nvSpPr>
          <p:cNvPr id="8" name="Text 3"/>
          <p:cNvSpPr/>
          <p:nvPr/>
        </p:nvSpPr>
        <p:spPr>
          <a:xfrm>
            <a:off x="68580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dBi · BIDIRECCIONAL: dos lóbulos a lo largo de la galería · pol. circular izq./der. (diversidad MIMO) · tramos largos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43484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461772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— EPNT-7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461772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dBi · omnidireccional (la “dona” es su patrón real) · cruceros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366760" y="4709160"/>
            <a:ext cx="33375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549640" y="48006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LHD — HELI-40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549640" y="5120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dBic · pol. circular · BIDIRECCIONAL: dos lóbulos por el túnel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directividad calculados por método de momentos (Antenna Toolbox, 5 GHz); los bidireccionales (RCP-50 y HELI-40) sintetizados según la especificación de sus datasheets Poynting.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cruzada del modelo de canal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raytracing_valid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7315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0" y="1508760"/>
            <a:ext cx="3246120" cy="2057400"/>
          </a:xfrm>
          <a:prstGeom prst="roundRect">
            <a:avLst>
              <a:gd name="adj" fmla="val 133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412480" y="166420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concordancia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412480" y="2048256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campo cercano, el ray-tracing 3D (SBR, roca εr=6, σ=0.01 S/m) coincide con el modelo two-slope: error medio ≈ 5 dB.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229600" y="3749040"/>
            <a:ext cx="324612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0" y="390448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donde divergen…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0" y="4288536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…el ray-tracing SUBESTIMA el alcance: no captura el modo guía de onda del túnel (Sun &amp; Akyildiz). Justo por eso el diseño usa el two-slope calibrado con el site survey.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two-slope vs ray-tracing SBR sobre la geometría 3D de la galería (MATLAB).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técnica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60120" y="1938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económica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9136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regulatoria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4279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0840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ética y social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44982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15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2026-07-17T04:09:37Z</dcterms:created>
  <dcterms:modified xsi:type="dcterms:W3CDTF">2026-07-17T04:09:37Z</dcterms:modified>
</cp:coreProperties>
</file>