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Saludo al jurado. Nombre completo, título de la tesis, asesor. 20 segundos, con calma. La imagen es el modelo 3D real del nivel NV1640 construido en MATLAB.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Descripción breve obligatoria: qué es y qué logra, sin entrar a detalles. 40 segundos. 'Esta tesis diseña y valida la red que permite sacar al operador del frente de riesgo sin detener la producción.'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MINUTOS. Empezar con la historia personal (genuina, 45 s) — el vínculo con la minería y la seguridad del trabajador. Luego el dato duro de OSINERGMIN. Cerrar con la oportunidad técnica: 'la teleoperación existe; lo que falta demostrar es que la RED la sostiene en una mina real. Eso hice.'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MINUTOS. Leer el objetivo general con énfasis en 'evidencia verificable'. Los 6 específicos en 20 segundos cada uno máximo, conectándolos: canal → arquitectura → radio → QoS → validación → idoneidad. Son la columna vertebral de los capítulos.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MINUTOS. MENCIONAR 'Design Thinking' explícitamente (rúbrica). Recorrer los 5 pasos con 30-40 s c/u anclando cada uno a lo que se hizo: empatizar (operador), definir (KPIs), idear (RSL Kitchenham + multicriterio), prototipar (NS-3 con geometría real), validar (TamoGraph + 10 semillas). Cerrar con el rigor estadístico: 'ningún número de esta tesis sale de una sola corrida'.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Inicio de los 7 minutos de resultados. Mostrar el plano real 15 s. REPRODUCIR EL VIDEO (clic) mientras se explica: 'el vehículo recorre el ciclo real de operación; arriba se ve el AP que lo sirve y su nivel de señal — datos de la simulación, no una caricatura'. Si el video no reproduce, seguir con la imagen sin perder ritmo.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slide más importante: 60-90 segundos. Leer los tres primeros con sus requisitos ('3 milisegundos contra un límite de 20'). Insistir: son medias con intervalo de confianza sobre 10 semillas — no una corrida afortunada. Todos cumplen con MARGEN.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Anticipa la pregunta clásica del jurado ('¿y si pierde señal en la curva?'). La línea azul nunca baja de -72.1 dBm: margen de 9.9 dB. Explicar el roaming estable: make-before-break, igual que el equipo real. Traspaso peor caso 0.91 ms contra 150 permitidos.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45 segundos. Mensaje: no solo cumple en condiciones nominales — aguanta 25% más de vídeo y el doble de velocidad. La priorización WMM protege el tráfico crítico: bajo estrés sube la latencia (dentro del límite), no la pérdida.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60 segundos. Este es el diferenciador técnico: no solo simulación de red — también la capa física del estándar (jerarquía de MCS correcta, constelación 256-QAM tras el canal) y los patrones reales de las antenas en la geometría de la mina. Mensaje: 'el análisis baja hasta el símbolo de modulación'.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60 segundos. Recorrer las 4 dimensiones. En económica ser honesto: 'la estructura de costos y los mecanismos de retorno están definidos; la cuantificación exacta requiere cotizaciones vigentes y es el paso siguiente con planeamiento de la mina'.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cierre vendedor que pide el profesor, desde la plataforma de éxito: 60 segundos. Frase central con pausa. Tres columnas: logro, aprendizaje, proyección. Terminar mirando al jurado: 'la tecnología ya existe; lo que esta tesis aporta es la evidencia de que funciona donde más se necesita'.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Agradecer al jurado y al asesor. Respirar. Las preguntas se responden con la estructura: reconocer → responder con el dato → remitir a la evidencia (capítulo/anexo). Si no sé algo: reconocerlo y remitirlo a trabajo futuro.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video" Target="../media/media-6-2.mp4"/><Relationship Id="rId3" Type="http://schemas.microsoft.com/office/2007/relationships/media" Target="../media/media-6-2.mp4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217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/Users/Adrian Lopez/Documents/tesis_proyecto/fase4/presentacion/mina_realista_3d.png">    </p:cNvPr>
          <p:cNvPicPr>
            <a:picLocks noChangeAspect="1"/>
          </p:cNvPicPr>
          <p:nvPr/>
        </p:nvPicPr>
        <p:blipFill>
          <a:blip r:embed="rId1">
            <a:alphaModFix amt="82000"/>
          </a:blip>
          <a:stretch>
            <a:fillRect/>
          </a:stretch>
        </p:blipFill>
        <p:spPr>
          <a:xfrm>
            <a:off x="6492240" y="1463040"/>
            <a:ext cx="5120640" cy="3931920"/>
          </a:xfrm>
          <a:prstGeom prst="ellipse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6400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5AA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PONTIFICIA UNIVERSIDAD CATÓLICA DEL PERÚ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777240" y="1024128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9C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Facultad de Ciencias e Ingeniería · Ingeniería de las Telecomunicaciones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777240" y="1965960"/>
            <a:ext cx="557784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Diseño de una red IEEE 802.11ac para la teleoperación de un vehículo LHD en la extracción de mineral en galerías subterráneas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777240" y="4709160"/>
            <a:ext cx="54864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Adrián Álvaro López Pascual
</a:t>
            </a:r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B9C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Asesor: Dr. Pastor David Chávez Muñoz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777240" y="58978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A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Sustentación · Trabajo de Tesis 2 ·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9326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33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¿De qué trata este trabajo?</a:t>
            </a:r>
            <a:endParaRPr lang="en-US" sz="3400" dirty="0"/>
          </a:p>
        </p:txBody>
      </p:sp>
      <p:pic>
        <p:nvPicPr>
          <p:cNvPr id="3" name="Image 0" descr="C:/Users/Adrian Lopez/Documents/tesis_proyecto/fase4/presentacion/escena_mina_3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0" y="1371600"/>
            <a:ext cx="5394960" cy="40233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309360" y="5486400"/>
            <a:ext cx="5394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Zona de producción NV1640 (Nexa Cerro Lindo): cobertura calculada, recorrido real del vehículo y patrón de la antena.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685800" y="1463040"/>
            <a:ext cx="5303520" cy="1298448"/>
          </a:xfrm>
          <a:prstGeom prst="roundRect">
            <a:avLst>
              <a:gd name="adj" fmla="val 6338"/>
            </a:avLst>
          </a:prstGeom>
          <a:solidFill>
            <a:srgbClr val="EAF2FB"/>
          </a:solidFill>
          <a:ln/>
          <a:effectLst>
            <a:outerShdw sx="100000" sy="100000" kx="0" ky="0" algn="bl" rotWithShape="0" blurRad="76200" dist="25400" dir="5400000">
              <a:srgbClr val="9AA7B8">
                <a:alpha val="35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914400" y="1847088"/>
            <a:ext cx="512064" cy="512064"/>
          </a:xfrm>
          <a:prstGeom prst="ellipse">
            <a:avLst/>
          </a:prstGeom>
          <a:solidFill>
            <a:srgbClr val="0033A0"/>
          </a:solidFill>
          <a:ln/>
        </p:spPr>
      </p:sp>
      <p:sp>
        <p:nvSpPr>
          <p:cNvPr id="7" name="Text 4"/>
          <p:cNvSpPr/>
          <p:nvPr/>
        </p:nvSpPr>
        <p:spPr>
          <a:xfrm>
            <a:off x="914400" y="182880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🕹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600200" y="1609344"/>
            <a:ext cx="4297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03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Teleoperar un cargador LHD desde superficie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1600200" y="2029968"/>
            <a:ext cx="42976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operador sale de la zona de riesgo; el vehículo se conduce por vídeo en tiempo real, comandos y telemetría.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85800" y="2944368"/>
            <a:ext cx="5303520" cy="1298448"/>
          </a:xfrm>
          <a:prstGeom prst="roundRect">
            <a:avLst>
              <a:gd name="adj" fmla="val 6338"/>
            </a:avLst>
          </a:prstGeom>
          <a:solidFill>
            <a:srgbClr val="EAF2FB"/>
          </a:solidFill>
          <a:ln/>
          <a:effectLst>
            <a:outerShdw sx="100000" sy="100000" kx="0" ky="0" algn="bl" rotWithShape="0" blurRad="76200" dist="25400" dir="5400000">
              <a:srgbClr val="9AA7B8">
                <a:alpha val="35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914400" y="3328416"/>
            <a:ext cx="512064" cy="512064"/>
          </a:xfrm>
          <a:prstGeom prst="ellipse">
            <a:avLst/>
          </a:prstGeom>
          <a:solidFill>
            <a:srgbClr val="0033A0"/>
          </a:solidFill>
          <a:ln/>
        </p:spPr>
      </p:sp>
      <p:sp>
        <p:nvSpPr>
          <p:cNvPr id="12" name="Text 9"/>
          <p:cNvSpPr/>
          <p:nvPr/>
        </p:nvSpPr>
        <p:spPr>
          <a:xfrm>
            <a:off x="914400" y="331012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📡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1600200" y="3090672"/>
            <a:ext cx="4297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03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una red IEEE 802.11ac diseñada para la mina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1600200" y="3511296"/>
            <a:ext cx="42976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puntos de acceso sobre un backbone de fibra, planificados sobre la geometría real de las galerías.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685800" y="4425696"/>
            <a:ext cx="5303520" cy="1298448"/>
          </a:xfrm>
          <a:prstGeom prst="roundRect">
            <a:avLst>
              <a:gd name="adj" fmla="val 6338"/>
            </a:avLst>
          </a:prstGeom>
          <a:solidFill>
            <a:srgbClr val="EAF2FB"/>
          </a:solidFill>
          <a:ln/>
          <a:effectLst>
            <a:outerShdw sx="100000" sy="100000" kx="0" ky="0" algn="bl" rotWithShape="0" blurRad="76200" dist="25400" dir="5400000">
              <a:srgbClr val="9AA7B8">
                <a:alpha val="35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914400" y="4809744"/>
            <a:ext cx="512064" cy="512064"/>
          </a:xfrm>
          <a:prstGeom prst="ellipse">
            <a:avLst/>
          </a:prstGeom>
          <a:solidFill>
            <a:srgbClr val="0033A0"/>
          </a:solidFill>
          <a:ln/>
        </p:spPr>
      </p:sp>
      <p:sp>
        <p:nvSpPr>
          <p:cNvPr id="17" name="Text 14"/>
          <p:cNvSpPr/>
          <p:nvPr/>
        </p:nvSpPr>
        <p:spPr>
          <a:xfrm>
            <a:off x="914400" y="479145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1600200" y="4572000"/>
            <a:ext cx="4297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03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Validada por simulación con rigor estadístico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1600200" y="4992624"/>
            <a:ext cx="42976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NS-3 sobre el trazado real: 18 ejecuciones, 10 semillas independientes, todos los KPIs cumplen.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9326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33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¿Por qué esta tesis?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9692640" y="256032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AA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Motivación · 3 min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85800" y="1463040"/>
            <a:ext cx="5394960" cy="2286000"/>
          </a:xfrm>
          <a:prstGeom prst="roundRect">
            <a:avLst>
              <a:gd name="adj" fmla="val 3600"/>
            </a:avLst>
          </a:prstGeom>
          <a:solidFill>
            <a:srgbClr val="EAF2FB"/>
          </a:solidFill>
          <a:ln/>
          <a:effectLst>
            <a:outerShdw sx="100000" sy="100000" kx="0" ky="0" algn="bl" rotWithShape="0" blurRad="76200" dist="25400" dir="5400000">
              <a:srgbClr val="9AA7B8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1371600"/>
            <a:ext cx="731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5AA0D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1417320" y="1691640"/>
            <a:ext cx="44805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50" i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minería está cerca de mi historia personal. Sé lo que significa que alguien entre a una labor subterránea y que su familia espere que vuelva.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1417320" y="3108960"/>
            <a:ext cx="4480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por eso el problema que resuelvo no es abstracto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85800" y="3977640"/>
            <a:ext cx="5394960" cy="2103120"/>
          </a:xfrm>
          <a:prstGeom prst="roundRect">
            <a:avLst>
              <a:gd name="adj" fmla="val 3913"/>
            </a:avLst>
          </a:prstGeom>
          <a:solidFill>
            <a:srgbClr val="FDF3E7"/>
          </a:solidFill>
          <a:ln/>
          <a:effectLst>
            <a:outerShdw sx="100000" sy="100000" kx="0" ky="0" algn="bl" rotWithShape="0" blurRad="76200" dist="25400" dir="5400000">
              <a:srgbClr val="9AA7B8">
                <a:alpha val="3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960120" y="4160520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dato que no se puede ignorar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60120" y="4590288"/>
            <a:ext cx="489204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año se registran víctimas mortales en la minería peruana; una parte importante ocurre en el frente de operación, justo donde trabaja el operador del LHD (OSINERGMIN).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400800" y="1463040"/>
            <a:ext cx="5074920" cy="4617720"/>
          </a:xfrm>
          <a:prstGeom prst="roundRect">
            <a:avLst>
              <a:gd name="adj" fmla="val 1782"/>
            </a:avLst>
          </a:prstGeom>
          <a:solidFill>
            <a:srgbClr val="021740"/>
          </a:solidFill>
          <a:ln/>
          <a:effectLst>
            <a:outerShdw sx="100000" sy="100000" kx="0" ky="0" algn="bl" rotWithShape="0" blurRad="76200" dist="25400" dir="5400000">
              <a:srgbClr val="9AA7B8">
                <a:alpha val="3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720840" y="1691640"/>
            <a:ext cx="4480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AA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oportunidad de ingeniería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720840" y="2240280"/>
            <a:ext cx="4434840" cy="3566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Retirar a la persona del riesgo </a:t>
            </a:r>
            <a:pPr indent="0" marL="0">
              <a:lnSpc>
                <a:spcPct val="114000"/>
              </a:lnSpc>
              <a:buNone/>
            </a:pPr>
            <a:r>
              <a:rPr lang="en-US" sz="1400" dirty="0">
                <a:solidFill>
                  <a:srgbClr val="D7E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detener la extracción: teleoperación.
</a:t>
            </a:r>
            <a:pPr indent="0" marL="0">
              <a:lnSpc>
                <a:spcPct val="114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eslabón crítico es la red</a:t>
            </a:r>
            <a:pPr indent="0" marL="0">
              <a:lnSpc>
                <a:spcPct val="114000"/>
              </a:lnSpc>
              <a:buNone/>
            </a:pPr>
            <a:r>
              <a:rPr lang="en-US" sz="1400" dirty="0">
                <a:solidFill>
                  <a:srgbClr val="D7E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vídeo en tiempo real, comandos de baja latencia y telemetría continua dentro de galerías con curvas, polvo y roca.
</a:t>
            </a:r>
            <a:pPr indent="0" marL="0">
              <a:lnSpc>
                <a:spcPct val="114000"/>
              </a:lnSpc>
              <a:buNone/>
            </a:pPr>
            <a:r>
              <a:rPr lang="en-US" sz="1400" b="1" dirty="0">
                <a:solidFill>
                  <a:srgbClr val="5AA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 tesis demuestra que ese eslabón es viable </a:t>
            </a:r>
            <a:pPr indent="0" marL="0">
              <a:lnSpc>
                <a:spcPct val="114000"/>
              </a:lnSpc>
              <a:buNone/>
            </a:pPr>
            <a:r>
              <a:rPr lang="en-US" sz="1400" dirty="0">
                <a:solidFill>
                  <a:srgbClr val="D7E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un estándar abierto y equipos industriales disponibles.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9326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33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Objetivos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9692640" y="256032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AA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Objetivos · 3 min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85800" y="1417320"/>
            <a:ext cx="10835640" cy="1143000"/>
          </a:xfrm>
          <a:prstGeom prst="roundRect">
            <a:avLst>
              <a:gd name="adj" fmla="val 7200"/>
            </a:avLst>
          </a:prstGeom>
          <a:solidFill>
            <a:srgbClr val="0033A0"/>
          </a:solidFill>
          <a:ln/>
          <a:effectLst>
            <a:outerShdw sx="100000" sy="100000" kx="0" ky="0" algn="bl" rotWithShape="0" blurRad="76200" dist="25400" dir="5400000">
              <a:srgbClr val="9AA7B8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60120" y="1572768"/>
            <a:ext cx="102870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5AA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general:  </a:t>
            </a:r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diseñar una red IEEE 802.11ac que soporte la teleoperación de un vehículo LHD en las galerías del nivel NV1640, cumpliendo requisitos de latencia, capacidad y disponibilidad con evidencia verificable.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85800" y="2880360"/>
            <a:ext cx="5303520" cy="914400"/>
          </a:xfrm>
          <a:prstGeom prst="roundRect">
            <a:avLst>
              <a:gd name="adj" fmla="val 9000"/>
            </a:avLst>
          </a:prstGeom>
          <a:solidFill>
            <a:srgbClr val="EAF2FB"/>
          </a:solidFill>
          <a:ln/>
          <a:effectLst>
            <a:outerShdw sx="100000" sy="100000" kx="0" ky="0" algn="bl" rotWithShape="0" blurRad="76200" dist="25400" dir="5400000">
              <a:srgbClr val="9AA7B8">
                <a:alpha val="3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86968" y="3081528"/>
            <a:ext cx="512064" cy="512064"/>
          </a:xfrm>
          <a:prstGeom prst="ellipse">
            <a:avLst/>
          </a:prstGeom>
          <a:solidFill>
            <a:srgbClr val="5AA0DC"/>
          </a:solidFill>
          <a:ln/>
        </p:spPr>
      </p:sp>
      <p:sp>
        <p:nvSpPr>
          <p:cNvPr id="8" name="Text 6"/>
          <p:cNvSpPr/>
          <p:nvPr/>
        </p:nvSpPr>
        <p:spPr>
          <a:xfrm>
            <a:off x="886968" y="306324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554480" y="2971800"/>
            <a:ext cx="43434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Caracterizar el canal de propagación en galerías (modelo two-slope calibrado)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17920" y="2880360"/>
            <a:ext cx="5303520" cy="914400"/>
          </a:xfrm>
          <a:prstGeom prst="roundRect">
            <a:avLst>
              <a:gd name="adj" fmla="val 9000"/>
            </a:avLst>
          </a:prstGeom>
          <a:solidFill>
            <a:srgbClr val="EAF2FB"/>
          </a:solidFill>
          <a:ln/>
          <a:effectLst>
            <a:outerShdw sx="100000" sy="100000" kx="0" ky="0" algn="bl" rotWithShape="0" blurRad="76200" dist="25400" dir="5400000">
              <a:srgbClr val="9AA7B8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419088" y="3081528"/>
            <a:ext cx="512064" cy="512064"/>
          </a:xfrm>
          <a:prstGeom prst="ellipse">
            <a:avLst/>
          </a:prstGeom>
          <a:solidFill>
            <a:srgbClr val="5AA0DC"/>
          </a:solidFill>
          <a:ln/>
        </p:spPr>
      </p:sp>
      <p:sp>
        <p:nvSpPr>
          <p:cNvPr id="12" name="Text 10"/>
          <p:cNvSpPr/>
          <p:nvPr/>
        </p:nvSpPr>
        <p:spPr>
          <a:xfrm>
            <a:off x="6419088" y="306324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086600" y="2971800"/>
            <a:ext cx="43434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Diseñar la arquitectura física y lógica (backbone óptico + malla de acceso)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85800" y="3959352"/>
            <a:ext cx="5303520" cy="914400"/>
          </a:xfrm>
          <a:prstGeom prst="roundRect">
            <a:avLst>
              <a:gd name="adj" fmla="val 9000"/>
            </a:avLst>
          </a:prstGeom>
          <a:solidFill>
            <a:srgbClr val="EAF2FB"/>
          </a:solidFill>
          <a:ln/>
          <a:effectLst>
            <a:outerShdw sx="100000" sy="100000" kx="0" ky="0" algn="bl" rotWithShape="0" blurRad="76200" dist="25400" dir="5400000">
              <a:srgbClr val="9AA7B8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86968" y="4160520"/>
            <a:ext cx="512064" cy="512064"/>
          </a:xfrm>
          <a:prstGeom prst="ellipse">
            <a:avLst/>
          </a:prstGeom>
          <a:solidFill>
            <a:srgbClr val="5AA0DC"/>
          </a:solidFill>
          <a:ln/>
        </p:spPr>
      </p:sp>
      <p:sp>
        <p:nvSpPr>
          <p:cNvPr id="16" name="Text 14"/>
          <p:cNvSpPr/>
          <p:nvPr/>
        </p:nvSpPr>
        <p:spPr>
          <a:xfrm>
            <a:off x="886968" y="414223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554480" y="4050792"/>
            <a:ext cx="43434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Dimensionar radio y antenas con equipos industriales reales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217920" y="3959352"/>
            <a:ext cx="5303520" cy="914400"/>
          </a:xfrm>
          <a:prstGeom prst="roundRect">
            <a:avLst>
              <a:gd name="adj" fmla="val 9000"/>
            </a:avLst>
          </a:prstGeom>
          <a:solidFill>
            <a:srgbClr val="EAF2FB"/>
          </a:solidFill>
          <a:ln/>
          <a:effectLst>
            <a:outerShdw sx="100000" sy="100000" kx="0" ky="0" algn="bl" rotWithShape="0" blurRad="76200" dist="25400" dir="5400000">
              <a:srgbClr val="9AA7B8">
                <a:alpha val="3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419088" y="4160520"/>
            <a:ext cx="512064" cy="512064"/>
          </a:xfrm>
          <a:prstGeom prst="ellipse">
            <a:avLst/>
          </a:prstGeom>
          <a:solidFill>
            <a:srgbClr val="5AA0DC"/>
          </a:solidFill>
          <a:ln/>
        </p:spPr>
      </p:sp>
      <p:sp>
        <p:nvSpPr>
          <p:cNvPr id="20" name="Text 18"/>
          <p:cNvSpPr/>
          <p:nvPr/>
        </p:nvSpPr>
        <p:spPr>
          <a:xfrm>
            <a:off x="6419088" y="414223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7086600" y="4050792"/>
            <a:ext cx="43434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Definir políticas de QoS y movilidad (WMM, roaming estable)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85800" y="5038344"/>
            <a:ext cx="5303520" cy="914400"/>
          </a:xfrm>
          <a:prstGeom prst="roundRect">
            <a:avLst>
              <a:gd name="adj" fmla="val 9000"/>
            </a:avLst>
          </a:prstGeom>
          <a:solidFill>
            <a:srgbClr val="EAF2FB"/>
          </a:solidFill>
          <a:ln/>
          <a:effectLst>
            <a:outerShdw sx="100000" sy="100000" kx="0" ky="0" algn="bl" rotWithShape="0" blurRad="76200" dist="25400" dir="5400000">
              <a:srgbClr val="9AA7B8">
                <a:alpha val="35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886968" y="5239512"/>
            <a:ext cx="512064" cy="512064"/>
          </a:xfrm>
          <a:prstGeom prst="ellipse">
            <a:avLst/>
          </a:prstGeom>
          <a:solidFill>
            <a:srgbClr val="5AA0DC"/>
          </a:solidFill>
          <a:ln/>
        </p:spPr>
      </p:sp>
      <p:sp>
        <p:nvSpPr>
          <p:cNvPr id="24" name="Text 22"/>
          <p:cNvSpPr/>
          <p:nvPr/>
        </p:nvSpPr>
        <p:spPr>
          <a:xfrm>
            <a:off x="886968" y="522122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1554480" y="5129784"/>
            <a:ext cx="43434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Validar el desempeño extremo a extremo por simulación NS-3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217920" y="5038344"/>
            <a:ext cx="5303520" cy="914400"/>
          </a:xfrm>
          <a:prstGeom prst="roundRect">
            <a:avLst>
              <a:gd name="adj" fmla="val 9000"/>
            </a:avLst>
          </a:prstGeom>
          <a:solidFill>
            <a:srgbClr val="EAF2FB"/>
          </a:solidFill>
          <a:ln/>
          <a:effectLst>
            <a:outerShdw sx="100000" sy="100000" kx="0" ky="0" algn="bl" rotWithShape="0" blurRad="76200" dist="25400" dir="5400000">
              <a:srgbClr val="9AA7B8">
                <a:alpha val="35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6419088" y="5239512"/>
            <a:ext cx="512064" cy="512064"/>
          </a:xfrm>
          <a:prstGeom prst="ellipse">
            <a:avLst/>
          </a:prstGeom>
          <a:solidFill>
            <a:srgbClr val="5AA0DC"/>
          </a:solidFill>
          <a:ln/>
        </p:spPr>
      </p:sp>
      <p:sp>
        <p:nvSpPr>
          <p:cNvPr id="28" name="Text 26"/>
          <p:cNvSpPr/>
          <p:nvPr/>
        </p:nvSpPr>
        <p:spPr>
          <a:xfrm>
            <a:off x="6419088" y="522122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7086600" y="5129784"/>
            <a:ext cx="43434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Evaluar idoneidad técnica, económica, regulatoria y ética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9326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33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Metodología: Design Thinking aplicado a ingeniería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9692640" y="256032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AA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Metodología · 5 min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85800" y="1554480"/>
            <a:ext cx="2075688" cy="2377440"/>
          </a:xfrm>
          <a:prstGeom prst="roundRect">
            <a:avLst>
              <a:gd name="adj" fmla="val 3965"/>
            </a:avLst>
          </a:prstGeom>
          <a:solidFill>
            <a:srgbClr val="EAF2FB"/>
          </a:solidFill>
          <a:ln/>
          <a:effectLst>
            <a:outerShdw sx="100000" sy="100000" kx="0" ky="0" algn="bl" rotWithShape="0" blurRad="76200" dist="25400" dir="5400000">
              <a:srgbClr val="9AA7B8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444752" y="1783080"/>
            <a:ext cx="566928" cy="566928"/>
          </a:xfrm>
          <a:prstGeom prst="ellipse">
            <a:avLst/>
          </a:prstGeom>
          <a:solidFill>
            <a:srgbClr val="E64A19"/>
          </a:solidFill>
          <a:ln/>
        </p:spPr>
      </p:sp>
      <p:sp>
        <p:nvSpPr>
          <p:cNvPr id="6" name="Text 4"/>
          <p:cNvSpPr/>
          <p:nvPr/>
        </p:nvSpPr>
        <p:spPr>
          <a:xfrm>
            <a:off x="1444752" y="176479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85800" y="2450592"/>
            <a:ext cx="207568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03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Empatizar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813816" y="2834640"/>
            <a:ext cx="1828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3000"/>
              </a:lnSpc>
              <a:buNone/>
            </a:pPr>
            <a:r>
              <a:rPr lang="en-US" sz="103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operador y su exposición al riesgo en el frente</a:t>
            </a:r>
            <a:endParaRPr lang="en-US" sz="1030" dirty="0"/>
          </a:p>
        </p:txBody>
      </p:sp>
      <p:sp>
        <p:nvSpPr>
          <p:cNvPr id="9" name="Text 7"/>
          <p:cNvSpPr/>
          <p:nvPr/>
        </p:nvSpPr>
        <p:spPr>
          <a:xfrm>
            <a:off x="2734056" y="233172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AA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2944368" y="1554480"/>
            <a:ext cx="2075688" cy="2377440"/>
          </a:xfrm>
          <a:prstGeom prst="roundRect">
            <a:avLst>
              <a:gd name="adj" fmla="val 3965"/>
            </a:avLst>
          </a:prstGeom>
          <a:solidFill>
            <a:srgbClr val="EAF2FB"/>
          </a:solidFill>
          <a:ln/>
          <a:effectLst>
            <a:outerShdw sx="100000" sy="100000" kx="0" ky="0" algn="bl" rotWithShape="0" blurRad="76200" dist="25400" dir="5400000">
              <a:srgbClr val="9AA7B8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703320" y="1783080"/>
            <a:ext cx="566928" cy="566928"/>
          </a:xfrm>
          <a:prstGeom prst="ellipse">
            <a:avLst/>
          </a:prstGeom>
          <a:solidFill>
            <a:srgbClr val="F57C00"/>
          </a:solidFill>
          <a:ln/>
        </p:spPr>
      </p:sp>
      <p:sp>
        <p:nvSpPr>
          <p:cNvPr id="12" name="Text 10"/>
          <p:cNvSpPr/>
          <p:nvPr/>
        </p:nvSpPr>
        <p:spPr>
          <a:xfrm>
            <a:off x="3703320" y="176479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2944368" y="2450592"/>
            <a:ext cx="207568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03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Definir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3072384" y="2834640"/>
            <a:ext cx="1828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3000"/>
              </a:lnSpc>
              <a:buNone/>
            </a:pPr>
            <a:r>
              <a:rPr lang="en-US" sz="103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Requisitos y KPIs medibles por flujo (vídeo, mando, telemetría)</a:t>
            </a:r>
            <a:endParaRPr lang="en-US" sz="1030" dirty="0"/>
          </a:p>
        </p:txBody>
      </p:sp>
      <p:sp>
        <p:nvSpPr>
          <p:cNvPr id="15" name="Text 13"/>
          <p:cNvSpPr/>
          <p:nvPr/>
        </p:nvSpPr>
        <p:spPr>
          <a:xfrm>
            <a:off x="4992624" y="233172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AA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5202936" y="1554480"/>
            <a:ext cx="2075688" cy="2377440"/>
          </a:xfrm>
          <a:prstGeom prst="roundRect">
            <a:avLst>
              <a:gd name="adj" fmla="val 3965"/>
            </a:avLst>
          </a:prstGeom>
          <a:solidFill>
            <a:srgbClr val="EAF2FB"/>
          </a:solidFill>
          <a:ln/>
          <a:effectLst>
            <a:outerShdw sx="100000" sy="100000" kx="0" ky="0" algn="bl" rotWithShape="0" blurRad="76200" dist="25400" dir="5400000">
              <a:srgbClr val="9AA7B8">
                <a:alpha val="3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961888" y="1783080"/>
            <a:ext cx="566928" cy="566928"/>
          </a:xfrm>
          <a:prstGeom prst="ellipse">
            <a:avLst/>
          </a:prstGeom>
          <a:solidFill>
            <a:srgbClr val="FBC02D"/>
          </a:solidFill>
          <a:ln/>
        </p:spPr>
      </p:sp>
      <p:sp>
        <p:nvSpPr>
          <p:cNvPr id="18" name="Text 16"/>
          <p:cNvSpPr/>
          <p:nvPr/>
        </p:nvSpPr>
        <p:spPr>
          <a:xfrm>
            <a:off x="5961888" y="176479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5202936" y="2450592"/>
            <a:ext cx="207568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03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Idear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330952" y="2834640"/>
            <a:ext cx="1828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3000"/>
              </a:lnSpc>
              <a:buNone/>
            </a:pPr>
            <a:r>
              <a:rPr lang="en-US" sz="103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Comparación multicriterio de tecnologías (RSL método Kitchenham)</a:t>
            </a:r>
            <a:endParaRPr lang="en-US" sz="1030" dirty="0"/>
          </a:p>
        </p:txBody>
      </p:sp>
      <p:sp>
        <p:nvSpPr>
          <p:cNvPr id="21" name="Text 19"/>
          <p:cNvSpPr/>
          <p:nvPr/>
        </p:nvSpPr>
        <p:spPr>
          <a:xfrm>
            <a:off x="7251192" y="233172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AA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7461504" y="1554480"/>
            <a:ext cx="2075688" cy="2377440"/>
          </a:xfrm>
          <a:prstGeom prst="roundRect">
            <a:avLst>
              <a:gd name="adj" fmla="val 3965"/>
            </a:avLst>
          </a:prstGeom>
          <a:solidFill>
            <a:srgbClr val="EAF2FB"/>
          </a:solidFill>
          <a:ln/>
          <a:effectLst>
            <a:outerShdw sx="100000" sy="100000" kx="0" ky="0" algn="bl" rotWithShape="0" blurRad="76200" dist="25400" dir="5400000">
              <a:srgbClr val="9AA7B8">
                <a:alpha val="35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8220456" y="1783080"/>
            <a:ext cx="566928" cy="566928"/>
          </a:xfrm>
          <a:prstGeom prst="ellipse">
            <a:avLst/>
          </a:prstGeom>
          <a:solidFill>
            <a:srgbClr val="7CB342"/>
          </a:solidFill>
          <a:ln/>
        </p:spPr>
      </p:sp>
      <p:sp>
        <p:nvSpPr>
          <p:cNvPr id="24" name="Text 22"/>
          <p:cNvSpPr/>
          <p:nvPr/>
        </p:nvSpPr>
        <p:spPr>
          <a:xfrm>
            <a:off x="8220456" y="176479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7461504" y="2450592"/>
            <a:ext cx="207568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03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Prototipar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7589520" y="2834640"/>
            <a:ext cx="1828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3000"/>
              </a:lnSpc>
              <a:buNone/>
            </a:pPr>
            <a:r>
              <a:rPr lang="en-US" sz="103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NS-3 sobre la geometría real + MATLAB</a:t>
            </a:r>
            <a:endParaRPr lang="en-US" sz="1030" dirty="0"/>
          </a:p>
        </p:txBody>
      </p:sp>
      <p:sp>
        <p:nvSpPr>
          <p:cNvPr id="27" name="Text 25"/>
          <p:cNvSpPr/>
          <p:nvPr/>
        </p:nvSpPr>
        <p:spPr>
          <a:xfrm>
            <a:off x="9509760" y="233172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AA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8" name="Shape 26"/>
          <p:cNvSpPr/>
          <p:nvPr/>
        </p:nvSpPr>
        <p:spPr>
          <a:xfrm>
            <a:off x="9720072" y="1554480"/>
            <a:ext cx="2075688" cy="2377440"/>
          </a:xfrm>
          <a:prstGeom prst="roundRect">
            <a:avLst>
              <a:gd name="adj" fmla="val 3965"/>
            </a:avLst>
          </a:prstGeom>
          <a:solidFill>
            <a:srgbClr val="EAF2FB"/>
          </a:solidFill>
          <a:ln/>
          <a:effectLst>
            <a:outerShdw sx="100000" sy="100000" kx="0" ky="0" algn="bl" rotWithShape="0" blurRad="76200" dist="25400" dir="5400000">
              <a:srgbClr val="9AA7B8">
                <a:alpha val="35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10479024" y="1783080"/>
            <a:ext cx="566928" cy="566928"/>
          </a:xfrm>
          <a:prstGeom prst="ellipse">
            <a:avLst/>
          </a:prstGeom>
          <a:solidFill>
            <a:srgbClr val="1E7A46"/>
          </a:solidFill>
          <a:ln/>
        </p:spPr>
      </p:sp>
      <p:sp>
        <p:nvSpPr>
          <p:cNvPr id="30" name="Text 28"/>
          <p:cNvSpPr/>
          <p:nvPr/>
        </p:nvSpPr>
        <p:spPr>
          <a:xfrm>
            <a:off x="10479024" y="176479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9720072" y="2450592"/>
            <a:ext cx="207568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03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Validar</a:t>
            </a:r>
            <a:endParaRPr lang="en-US" sz="1450" dirty="0"/>
          </a:p>
        </p:txBody>
      </p:sp>
      <p:sp>
        <p:nvSpPr>
          <p:cNvPr id="32" name="Text 30"/>
          <p:cNvSpPr/>
          <p:nvPr/>
        </p:nvSpPr>
        <p:spPr>
          <a:xfrm>
            <a:off x="9848088" y="2834640"/>
            <a:ext cx="1828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3000"/>
              </a:lnSpc>
              <a:buNone/>
            </a:pPr>
            <a:r>
              <a:rPr lang="en-US" sz="103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Contraste con site survey TamoGraph + batería multi-semilla</a:t>
            </a:r>
            <a:endParaRPr lang="en-US" sz="1030" dirty="0"/>
          </a:p>
        </p:txBody>
      </p:sp>
      <p:sp>
        <p:nvSpPr>
          <p:cNvPr id="33" name="Shape 31"/>
          <p:cNvSpPr/>
          <p:nvPr/>
        </p:nvSpPr>
        <p:spPr>
          <a:xfrm>
            <a:off x="685800" y="4343400"/>
            <a:ext cx="5349240" cy="1783080"/>
          </a:xfrm>
          <a:prstGeom prst="roundRect">
            <a:avLst>
              <a:gd name="adj" fmla="val 4615"/>
            </a:avLst>
          </a:prstGeom>
          <a:solidFill>
            <a:srgbClr val="021740"/>
          </a:solidFill>
          <a:ln/>
          <a:effectLst>
            <a:outerShdw sx="100000" sy="100000" kx="0" ky="0" algn="bl" rotWithShape="0" blurRad="76200" dist="25400" dir="5400000">
              <a:srgbClr val="9AA7B8">
                <a:alpha val="35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960120" y="45262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AA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Herramientas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960120" y="4919472"/>
            <a:ext cx="4846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NS-3.40</a:t>
            </a:r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D7E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simulación de red a nivel de paquetes  ·  </a:t>
            </a:r>
            <a:pPr indent="0" marL="0">
              <a:lnSpc>
                <a:spcPct val="118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MATLAB R2024b</a:t>
            </a:r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D7E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modelamiento del canal, antenas y entorno 3D  ·  </a:t>
            </a:r>
            <a:pPr indent="0" marL="0">
              <a:lnSpc>
                <a:spcPct val="118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TamoGraph</a:t>
            </a:r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D7E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site survey real de contraste  ·  </a:t>
            </a:r>
            <a:pPr indent="0" marL="0">
              <a:lnSpc>
                <a:spcPct val="118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D7E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fuente única de parámetros y trazabilidad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6355080" y="4343400"/>
            <a:ext cx="5120640" cy="1783080"/>
          </a:xfrm>
          <a:prstGeom prst="roundRect">
            <a:avLst>
              <a:gd name="adj" fmla="val 4615"/>
            </a:avLst>
          </a:prstGeom>
          <a:solidFill>
            <a:srgbClr val="EAF2FB"/>
          </a:solidFill>
          <a:ln/>
          <a:effectLst>
            <a:outerShdw sx="100000" sy="100000" kx="0" ky="0" algn="bl" rotWithShape="0" blurRad="76200" dist="25400" dir="5400000">
              <a:srgbClr val="9AA7B8">
                <a:alpha val="35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6629400" y="45262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3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Rigor de la validación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6629400" y="4919472"/>
            <a:ext cx="4617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ejecuciones de 300 s  ·  10 semillas independientes
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como media ± intervalo de confianza al 95 %. Escenarios de operación, referencia, estrés y traspaso.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9326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33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diseño vive en la geometría real de la mina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9692640" y="256032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AA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· 7 min</a:t>
            </a:r>
            <a:endParaRPr lang="en-US" sz="1200" dirty="0"/>
          </a:p>
        </p:txBody>
      </p:sp>
      <p:pic>
        <p:nvPicPr>
          <p:cNvPr id="4" name="Image 0" descr="C:/Users/Adrian Lopez/Documents/tesis_proyecto/fase4/presentacion/plano_nv1640_p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463040"/>
            <a:ext cx="5486400" cy="41148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85800" y="562356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del nivel NV1640 (block caving tipo El Teniente): galerías, cruceros, drawpoints y los 12 AP.</a:t>
            </a:r>
            <a:endParaRPr lang="en-US" sz="1100" dirty="0"/>
          </a:p>
        </p:txBody>
      </p:sp>
      <p:pic>
        <p:nvPicPr>
          <p:cNvPr id="4" name="Media 0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6537960" y="1463040"/>
            <a:ext cx="4937760" cy="278892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6537960" y="4343400"/>
            <a:ext cx="4937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Recorrido del LHD teleoperado (animación 3D con datos reales de la simulación: AP servidor y RSSI en vivo)</a:t>
            </a:r>
            <a:endParaRPr lang="en-US" sz="1100" dirty="0"/>
          </a:p>
        </p:txBody>
      </p:sp>
      <p:sp>
        <p:nvSpPr>
          <p:cNvPr id="8" name="Shape 4"/>
          <p:cNvSpPr/>
          <p:nvPr/>
        </p:nvSpPr>
        <p:spPr>
          <a:xfrm>
            <a:off x="6537960" y="5029200"/>
            <a:ext cx="4937760" cy="1051560"/>
          </a:xfrm>
          <a:prstGeom prst="roundRect">
            <a:avLst>
              <a:gd name="adj" fmla="val 7826"/>
            </a:avLst>
          </a:prstGeom>
          <a:solidFill>
            <a:srgbClr val="EAF2FB"/>
          </a:solidFill>
          <a:ln/>
          <a:effectLst>
            <a:outerShdw sx="100000" sy="100000" kx="0" ky="0" algn="bl" rotWithShape="0" blurRad="76200" dist="25400" dir="5400000">
              <a:srgbClr val="9AA7B8">
                <a:alpha val="35000"/>
              </a:srgbClr>
            </a:outerShdw>
          </a:effectLst>
        </p:spPr>
      </p:sp>
      <p:sp>
        <p:nvSpPr>
          <p:cNvPr id="9" name="Text 5"/>
          <p:cNvSpPr/>
          <p:nvPr/>
        </p:nvSpPr>
        <p:spPr>
          <a:xfrm>
            <a:off x="6766560" y="5138928"/>
            <a:ext cx="45262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003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señal no atraviesa la roca. </a:t>
            </a:r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modelo respeta la física del túnel: la cobertura viaja por las labores abiertas, con penalización por cada galería cruzada.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217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4864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Resultados: todos los KPIs se cumplen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13232" y="1261872"/>
            <a:ext cx="9144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AA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ejecuciones · 10 semillas independientes · media ± intervalo de confianza al 95 %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85800" y="1920240"/>
            <a:ext cx="3456432" cy="1920240"/>
          </a:xfrm>
          <a:prstGeom prst="roundRect">
            <a:avLst>
              <a:gd name="adj" fmla="val 4762"/>
            </a:avLst>
          </a:prstGeom>
          <a:solidFill>
            <a:srgbClr val="0A2B66"/>
          </a:solidFill>
          <a:ln w="12700">
            <a:solidFill>
              <a:srgbClr val="1D4B9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2148840"/>
            <a:ext cx="345643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5AA0D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3.04 ms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85800" y="3017520"/>
            <a:ext cx="3456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OWD comandos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85800" y="3383280"/>
            <a:ext cx="345643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FB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requisito ≤ 20 ms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70832" y="1920240"/>
            <a:ext cx="3456432" cy="1920240"/>
          </a:xfrm>
          <a:prstGeom prst="roundRect">
            <a:avLst>
              <a:gd name="adj" fmla="val 4762"/>
            </a:avLst>
          </a:prstGeom>
          <a:solidFill>
            <a:srgbClr val="0A2B66"/>
          </a:solidFill>
          <a:ln w="12700">
            <a:solidFill>
              <a:srgbClr val="1D4B9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370832" y="2148840"/>
            <a:ext cx="345643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5AA0D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35.9 ms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4370832" y="3017520"/>
            <a:ext cx="3456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Latencia vídeo E2E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370832" y="3383280"/>
            <a:ext cx="345643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FB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requisito ≤ 150 ms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055864" y="1920240"/>
            <a:ext cx="3456432" cy="1920240"/>
          </a:xfrm>
          <a:prstGeom prst="roundRect">
            <a:avLst>
              <a:gd name="adj" fmla="val 4762"/>
            </a:avLst>
          </a:prstGeom>
          <a:solidFill>
            <a:srgbClr val="0A2B66"/>
          </a:solidFill>
          <a:ln w="12700">
            <a:solidFill>
              <a:srgbClr val="1D4B9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055864" y="2148840"/>
            <a:ext cx="345643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5AA0D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0.28 ms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8055864" y="3017520"/>
            <a:ext cx="3456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Jitter P95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055864" y="3383280"/>
            <a:ext cx="345643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FB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requisito ≤ 10 ms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85800" y="4069080"/>
            <a:ext cx="3456432" cy="1920240"/>
          </a:xfrm>
          <a:prstGeom prst="roundRect">
            <a:avLst>
              <a:gd name="adj" fmla="val 4762"/>
            </a:avLst>
          </a:prstGeom>
          <a:solidFill>
            <a:srgbClr val="0A2B66"/>
          </a:solidFill>
          <a:ln w="12700">
            <a:solidFill>
              <a:srgbClr val="1D4B9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5800" y="4297680"/>
            <a:ext cx="345643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5AA0D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40.1 Mbps</a:t>
            </a:r>
            <a:endParaRPr lang="en-US" sz="4000" dirty="0"/>
          </a:p>
        </p:txBody>
      </p:sp>
      <p:sp>
        <p:nvSpPr>
          <p:cNvPr id="18" name="Text 16"/>
          <p:cNvSpPr/>
          <p:nvPr/>
        </p:nvSpPr>
        <p:spPr>
          <a:xfrm>
            <a:off x="685800" y="5166360"/>
            <a:ext cx="3456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Throughput vídeo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85800" y="5532120"/>
            <a:ext cx="345643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FB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requisito ≥ 38 Mbps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370832" y="4069080"/>
            <a:ext cx="3456432" cy="1920240"/>
          </a:xfrm>
          <a:prstGeom prst="roundRect">
            <a:avLst>
              <a:gd name="adj" fmla="val 4762"/>
            </a:avLst>
          </a:prstGeom>
          <a:solidFill>
            <a:srgbClr val="0A2B66"/>
          </a:solidFill>
          <a:ln w="12700">
            <a:solidFill>
              <a:srgbClr val="1D4B9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370832" y="4297680"/>
            <a:ext cx="345643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5AA0D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0.06 %</a:t>
            </a:r>
            <a:endParaRPr lang="en-US" sz="4000" dirty="0"/>
          </a:p>
        </p:txBody>
      </p:sp>
      <p:sp>
        <p:nvSpPr>
          <p:cNvPr id="22" name="Text 20"/>
          <p:cNvSpPr/>
          <p:nvPr/>
        </p:nvSpPr>
        <p:spPr>
          <a:xfrm>
            <a:off x="4370832" y="5166360"/>
            <a:ext cx="3456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PLR comandos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370832" y="5532120"/>
            <a:ext cx="345643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FB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requisito ≤ 0.5 %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055864" y="4069080"/>
            <a:ext cx="3456432" cy="1920240"/>
          </a:xfrm>
          <a:prstGeom prst="roundRect">
            <a:avLst>
              <a:gd name="adj" fmla="val 4762"/>
            </a:avLst>
          </a:prstGeom>
          <a:solidFill>
            <a:srgbClr val="0A2B66"/>
          </a:solidFill>
          <a:ln w="12700">
            <a:solidFill>
              <a:srgbClr val="1D4B9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055864" y="4297680"/>
            <a:ext cx="345643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5AA0D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100 %</a:t>
            </a:r>
            <a:endParaRPr lang="en-US" sz="4000" dirty="0"/>
          </a:p>
        </p:txBody>
      </p:sp>
      <p:sp>
        <p:nvSpPr>
          <p:cNvPr id="26" name="Text 24"/>
          <p:cNvSpPr/>
          <p:nvPr/>
        </p:nvSpPr>
        <p:spPr>
          <a:xfrm>
            <a:off x="8055864" y="5166360"/>
            <a:ext cx="3456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Disponibilidad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8055864" y="5532120"/>
            <a:ext cx="345643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FB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requisito ≥ 99.9 %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9326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33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red cubre todo el recorrido del vehículo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9692640" y="256032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AA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· 7 min</a:t>
            </a:r>
            <a:endParaRPr lang="en-US" sz="1200" dirty="0"/>
          </a:p>
        </p:txBody>
      </p:sp>
      <p:pic>
        <p:nvPicPr>
          <p:cNvPr id="4" name="Image 0" descr="C:/Users/Adrian Lopez/Documents/tesis_proyecto/fase4/presentacion/grafico_rssi_asociad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508760"/>
            <a:ext cx="6949440" cy="41605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863840" y="1508760"/>
            <a:ext cx="3611880" cy="1828800"/>
          </a:xfrm>
          <a:prstGeom prst="roundRect">
            <a:avLst>
              <a:gd name="adj" fmla="val 4500"/>
            </a:avLst>
          </a:prstGeom>
          <a:solidFill>
            <a:srgbClr val="EAF2FB"/>
          </a:solidFill>
          <a:ln/>
          <a:effectLst>
            <a:outerShdw sx="100000" sy="100000" kx="0" ky="0" algn="bl" rotWithShape="0" blurRad="76200" dist="25400" dir="5400000">
              <a:srgbClr val="9AA7B8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863840" y="1691640"/>
            <a:ext cx="3611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E7A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−72.1 dBm</a:t>
            </a:r>
            <a:endParaRPr lang="en-US" sz="3800" dirty="0"/>
          </a:p>
        </p:txBody>
      </p:sp>
      <p:sp>
        <p:nvSpPr>
          <p:cNvPr id="7" name="Text 4"/>
          <p:cNvSpPr/>
          <p:nvPr/>
        </p:nvSpPr>
        <p:spPr>
          <a:xfrm>
            <a:off x="8001000" y="2487168"/>
            <a:ext cx="3337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peor nivel de señal del enlace en todo el ciclo (9.9 dB sobre el umbral usable)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7863840" y="3520440"/>
            <a:ext cx="3611880" cy="2148840"/>
          </a:xfrm>
          <a:prstGeom prst="roundRect">
            <a:avLst>
              <a:gd name="adj" fmla="val 3830"/>
            </a:avLst>
          </a:prstGeom>
          <a:solidFill>
            <a:srgbClr val="EAF2FB"/>
          </a:solidFill>
          <a:ln/>
          <a:effectLst>
            <a:outerShdw sx="100000" sy="100000" kx="0" ky="0" algn="bl" rotWithShape="0" blurRad="76200" dist="25400" dir="5400000">
              <a:srgbClr val="9AA7B8">
                <a:alpha val="35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8092440" y="3703320"/>
            <a:ext cx="32004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003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Roaming estable por diseño.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vehículo no persigue al AP más cercano (evita micro-cortes): mantiene un enlace tipo make-before-break, como la malla industrial real. Cuando el traspaso ocurre, dura </a:t>
            </a:r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E7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menos de 1 ms.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85800" y="5760720"/>
            <a:ext cx="6949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RSSI del enlace asociado durante el recorrido — 10 semillas.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9326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33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diseño resiste condiciones de estrés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9692640" y="256032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AA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· 7 min</a:t>
            </a:r>
            <a:endParaRPr lang="en-US" sz="1200" dirty="0"/>
          </a:p>
        </p:txBody>
      </p:sp>
      <p:pic>
        <p:nvPicPr>
          <p:cNvPr id="4" name="Image 0" descr="C:/Users/Adrian Lopez/Documents/tesis_proyecto/fase4/presentacion/resultados_escenario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463040"/>
            <a:ext cx="7452360" cy="44805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8366760" y="1463040"/>
            <a:ext cx="3108960" cy="2103120"/>
          </a:xfrm>
          <a:prstGeom prst="roundRect">
            <a:avLst>
              <a:gd name="adj" fmla="val 3913"/>
            </a:avLst>
          </a:prstGeom>
          <a:solidFill>
            <a:srgbClr val="EAF2FB"/>
          </a:solidFill>
          <a:ln/>
          <a:effectLst>
            <a:outerShdw sx="100000" sy="100000" kx="0" ky="0" algn="bl" rotWithShape="0" blurRad="76200" dist="25400" dir="5400000">
              <a:srgbClr val="9AA7B8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8549640" y="1627632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3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Vídeo a 50 Mbps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8549640" y="2011680"/>
            <a:ext cx="27889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(+25 % sobre lo nominal): la red mantiene TODOS los criterios; la presión se ve en latencia (OWD ×2.3), no en pérdidas.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8366760" y="3749040"/>
            <a:ext cx="3108960" cy="2194560"/>
          </a:xfrm>
          <a:prstGeom prst="roundRect">
            <a:avLst>
              <a:gd name="adj" fmla="val 3750"/>
            </a:avLst>
          </a:prstGeom>
          <a:solidFill>
            <a:srgbClr val="EAF2FB"/>
          </a:solidFill>
          <a:ln/>
          <a:effectLst>
            <a:outerShdw sx="100000" sy="100000" kx="0" ky="0" algn="bl" rotWithShape="0" blurRad="76200" dist="25400" dir="5400000">
              <a:srgbClr val="9AA7B8">
                <a:alpha val="35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8549640" y="3913632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3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Velocidad a 4 m/s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8549640" y="4297680"/>
            <a:ext cx="278892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(el doble de la operación): sin degradación de KPIs. Hay margen de dimensionamiento verificable, no un diseño al límite.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9326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33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 estándar físico a la antena: profundidad del análisis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9692640" y="256032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AA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· 7 min</a:t>
            </a:r>
            <a:endParaRPr lang="en-US" sz="1200" dirty="0"/>
          </a:p>
        </p:txBody>
      </p:sp>
      <p:pic>
        <p:nvPicPr>
          <p:cNvPr id="4" name="Image 0" descr="C:/Users/Adrian Lopez/Documents/tesis_proyecto/fase4/presentacion/wlan_802_11a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554480"/>
            <a:ext cx="6675120" cy="28346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85800" y="4434840"/>
            <a:ext cx="6675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 física 802.11ac real (WLAN Toolbox): PER vs SNR por esquema de modulación y constelación 256-QAM ecualizada tras el canal.</a:t>
            </a:r>
            <a:endParaRPr lang="en-US" sz="1100" dirty="0"/>
          </a:p>
        </p:txBody>
      </p:sp>
      <p:pic>
        <p:nvPicPr>
          <p:cNvPr id="6" name="Image 1" descr="C:/Users/Adrian Lopez/Documents/tesis_proyecto/fase4/presentacion/patron_antenas_3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1554480"/>
            <a:ext cx="3886200" cy="283464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7635240" y="4434840"/>
            <a:ext cx="3886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12 AP irradiando con sus patrones reales (Antenna Toolbox) sobre la geometría de la mina.</a:t>
            </a:r>
            <a:endParaRPr lang="en-US" sz="1100" dirty="0"/>
          </a:p>
        </p:txBody>
      </p:sp>
      <p:sp>
        <p:nvSpPr>
          <p:cNvPr id="8" name="Shape 4"/>
          <p:cNvSpPr/>
          <p:nvPr/>
        </p:nvSpPr>
        <p:spPr>
          <a:xfrm>
            <a:off x="685800" y="5166360"/>
            <a:ext cx="10789920" cy="960120"/>
          </a:xfrm>
          <a:prstGeom prst="roundRect">
            <a:avLst>
              <a:gd name="adj" fmla="val 8571"/>
            </a:avLst>
          </a:prstGeom>
          <a:solidFill>
            <a:srgbClr val="EAF2FB"/>
          </a:solidFill>
          <a:ln/>
          <a:effectLst>
            <a:outerShdw sx="100000" sy="100000" kx="0" ky="0" algn="bl" rotWithShape="0" blurRad="76200" dist="25400" dir="5400000">
              <a:srgbClr val="9AA7B8">
                <a:alpha val="35000"/>
              </a:srgbClr>
            </a:outerShdw>
          </a:effectLst>
        </p:spPr>
      </p:sp>
      <p:sp>
        <p:nvSpPr>
          <p:cNvPr id="9" name="Text 5"/>
          <p:cNvSpPr/>
          <p:nvPr/>
        </p:nvSpPr>
        <p:spPr>
          <a:xfrm>
            <a:off x="914400" y="5285232"/>
            <a:ext cx="10332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003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niveles de validación: 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de canal calibrado con site survey real (TamoGraph) · simulación de red completa (NS-3) · capa física del estándar y patrones de antena (MATLAB). Cada decisión del diseño es trazable a evidencia.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9326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33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Una solución idónea en todas sus dimensiones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9692640" y="256032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AA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· 7 min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85800" y="1463040"/>
            <a:ext cx="5577840" cy="1005840"/>
          </a:xfrm>
          <a:prstGeom prst="roundRect">
            <a:avLst>
              <a:gd name="adj" fmla="val 8182"/>
            </a:avLst>
          </a:prstGeom>
          <a:solidFill>
            <a:srgbClr val="EAF2FB"/>
          </a:solidFill>
          <a:ln/>
          <a:effectLst>
            <a:outerShdw sx="100000" sy="100000" kx="0" ky="0" algn="bl" rotWithShape="0" blurRad="76200" dist="25400" dir="5400000">
              <a:srgbClr val="9AA7B8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1709928"/>
            <a:ext cx="512064" cy="512064"/>
          </a:xfrm>
          <a:prstGeom prst="ellipse">
            <a:avLst/>
          </a:prstGeom>
          <a:solidFill>
            <a:srgbClr val="1E7A46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69164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600200" y="155448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3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Técnica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1600200" y="1920240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Todos los KPIs cumplen con margen y respaldo estadístico de 10 semillas.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685800" y="2633472"/>
            <a:ext cx="5577840" cy="1005840"/>
          </a:xfrm>
          <a:prstGeom prst="roundRect">
            <a:avLst>
              <a:gd name="adj" fmla="val 8182"/>
            </a:avLst>
          </a:prstGeom>
          <a:solidFill>
            <a:srgbClr val="EAF2FB"/>
          </a:solidFill>
          <a:ln/>
          <a:effectLst>
            <a:outerShdw sx="100000" sy="100000" kx="0" ky="0" algn="bl" rotWithShape="0" blurRad="76200" dist="25400" dir="5400000">
              <a:srgbClr val="9AA7B8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14400" y="2880360"/>
            <a:ext cx="512064" cy="512064"/>
          </a:xfrm>
          <a:prstGeom prst="ellipse">
            <a:avLst/>
          </a:prstGeom>
          <a:solidFill>
            <a:srgbClr val="0033A0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286207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600200" y="2724912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3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Económica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1600200" y="3090672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Inversión incremental sobre la infraestructura existente; despliegue gradual por frentes.</a:t>
            </a:r>
            <a:endParaRPr lang="en-US" sz="1080" dirty="0"/>
          </a:p>
        </p:txBody>
      </p:sp>
      <p:sp>
        <p:nvSpPr>
          <p:cNvPr id="14" name="Shape 12"/>
          <p:cNvSpPr/>
          <p:nvPr/>
        </p:nvSpPr>
        <p:spPr>
          <a:xfrm>
            <a:off x="685800" y="3803904"/>
            <a:ext cx="5577840" cy="1005840"/>
          </a:xfrm>
          <a:prstGeom prst="roundRect">
            <a:avLst>
              <a:gd name="adj" fmla="val 8182"/>
            </a:avLst>
          </a:prstGeom>
          <a:solidFill>
            <a:srgbClr val="EAF2FB"/>
          </a:solidFill>
          <a:ln/>
          <a:effectLst>
            <a:outerShdw sx="100000" sy="100000" kx="0" ky="0" algn="bl" rotWithShape="0" blurRad="76200" dist="25400" dir="5400000">
              <a:srgbClr val="9AA7B8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14400" y="4050792"/>
            <a:ext cx="512064" cy="512064"/>
          </a:xfrm>
          <a:prstGeom prst="ellipse">
            <a:avLst/>
          </a:prstGeom>
          <a:solidFill>
            <a:srgbClr val="5AA0DC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403250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600200" y="3895344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3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Regulatoria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1600200" y="4261104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Banda 5 GHz de uso libre (MTC); alineada al reglamento de seguridad minera (D.S. 024-2016-EM).</a:t>
            </a:r>
            <a:endParaRPr lang="en-US" sz="1080" dirty="0"/>
          </a:p>
        </p:txBody>
      </p:sp>
      <p:sp>
        <p:nvSpPr>
          <p:cNvPr id="19" name="Shape 17"/>
          <p:cNvSpPr/>
          <p:nvPr/>
        </p:nvSpPr>
        <p:spPr>
          <a:xfrm>
            <a:off x="685800" y="4974336"/>
            <a:ext cx="5577840" cy="1005840"/>
          </a:xfrm>
          <a:prstGeom prst="roundRect">
            <a:avLst>
              <a:gd name="adj" fmla="val 8182"/>
            </a:avLst>
          </a:prstGeom>
          <a:solidFill>
            <a:srgbClr val="EAF2FB"/>
          </a:solidFill>
          <a:ln/>
          <a:effectLst>
            <a:outerShdw sx="100000" sy="100000" kx="0" ky="0" algn="bl" rotWithShape="0" blurRad="76200" dist="25400" dir="5400000">
              <a:srgbClr val="9AA7B8">
                <a:alpha val="3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914400" y="5221224"/>
            <a:ext cx="512064" cy="512064"/>
          </a:xfrm>
          <a:prstGeom prst="ellipse">
            <a:avLst/>
          </a:prstGeom>
          <a:solidFill>
            <a:srgbClr val="B7791F"/>
          </a:solidFill>
          <a:ln/>
        </p:spPr>
      </p:sp>
      <p:sp>
        <p:nvSpPr>
          <p:cNvPr id="21" name="Text 19"/>
          <p:cNvSpPr/>
          <p:nvPr/>
        </p:nvSpPr>
        <p:spPr>
          <a:xfrm>
            <a:off x="914400" y="520293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♥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600200" y="5065776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3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Ética y social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1600200" y="543153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Retira al trabajador de la zona de riesgo; gestión responsable del cambio con el personal.</a:t>
            </a:r>
            <a:endParaRPr lang="en-US" sz="1080" dirty="0"/>
          </a:p>
        </p:txBody>
      </p:sp>
      <p:pic>
        <p:nvPicPr>
          <p:cNvPr id="24" name="Image 0" descr="C:/Users/Adrian Lopez/Documents/tesis_proyecto/fase4/presentacion/fig_capex_ope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29400" y="1554480"/>
            <a:ext cx="4892040" cy="3977640"/>
          </a:xfrm>
          <a:prstGeom prst="rect">
            <a:avLst/>
          </a:prstGeom>
        </p:spPr>
      </p:pic>
      <p:sp>
        <p:nvSpPr>
          <p:cNvPr id="25" name="Text 22"/>
          <p:cNvSpPr/>
          <p:nvPr/>
        </p:nvSpPr>
        <p:spPr>
          <a:xfrm>
            <a:off x="6629400" y="5577840"/>
            <a:ext cx="4892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B6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 económica: inversión, operación y mecanismos de retorno.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217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68580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5AA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Reflexión final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1188720" y="1554480"/>
            <a:ext cx="98298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Diseñé una red que puede sacar a una persona de la zona de peligro dentro de una mina.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1188720" y="3154680"/>
            <a:ext cx="9829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rgbClr val="5AA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demostré, con evidencia reproducible, que es viable.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777240" y="4069080"/>
            <a:ext cx="3429000" cy="2103120"/>
          </a:xfrm>
          <a:prstGeom prst="roundRect">
            <a:avLst>
              <a:gd name="adj" fmla="val 4348"/>
            </a:avLst>
          </a:prstGeom>
          <a:solidFill>
            <a:srgbClr val="0A2B66"/>
          </a:solidFill>
          <a:ln w="12700">
            <a:solidFill>
              <a:srgbClr val="1D4B9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4251960"/>
            <a:ext cx="2971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AA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logré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4681728"/>
            <a:ext cx="2971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7E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red validada sobre la geometría real, con todos los KPIs cumplidos y trazabilidad completa de cada número.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434840" y="4069080"/>
            <a:ext cx="3429000" cy="2103120"/>
          </a:xfrm>
          <a:prstGeom prst="roundRect">
            <a:avLst>
              <a:gd name="adj" fmla="val 4348"/>
            </a:avLst>
          </a:prstGeom>
          <a:solidFill>
            <a:srgbClr val="0A2B66"/>
          </a:solidFill>
          <a:ln w="12700">
            <a:solidFill>
              <a:srgbClr val="1D4B9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63440" y="4251960"/>
            <a:ext cx="2971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AA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aprendí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4681728"/>
            <a:ext cx="2971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7E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integrar propagación, redes y análisis de idoneidad — y a defender cada decisión con datos, no con opiniones.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8092440" y="4069080"/>
            <a:ext cx="3429000" cy="2103120"/>
          </a:xfrm>
          <a:prstGeom prst="roundRect">
            <a:avLst>
              <a:gd name="adj" fmla="val 4348"/>
            </a:avLst>
          </a:prstGeom>
          <a:solidFill>
            <a:srgbClr val="0A2B66"/>
          </a:solidFill>
          <a:ln w="12700">
            <a:solidFill>
              <a:srgbClr val="1D4B9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321040" y="4251960"/>
            <a:ext cx="2971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AA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sigue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4681728"/>
            <a:ext cx="2971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7E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camino replicable hacia una minería peruana más segura — y la base de un artículo de investigación.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217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/Users/Adrian Lopez/Documents/tesis_proyecto/fase4/presentacion/mina_realista_3d.png">    </p:cNvPr>
          <p:cNvPicPr>
            <a:picLocks noChangeAspect="1"/>
          </p:cNvPicPr>
          <p:nvPr/>
        </p:nvPicPr>
        <p:blipFill>
          <a:blip r:embed="rId1">
            <a:alphaModFix amt="75000"/>
          </a:blip>
          <a:stretch>
            <a:fillRect/>
          </a:stretch>
        </p:blipFill>
        <p:spPr>
          <a:xfrm>
            <a:off x="7315200" y="3291840"/>
            <a:ext cx="4873752" cy="3566160"/>
          </a:xfrm>
          <a:prstGeom prst="ellipse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237744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Gracias</a:t>
            </a:r>
            <a:endParaRPr lang="en-US" sz="5400" dirty="0"/>
          </a:p>
        </p:txBody>
      </p:sp>
      <p:sp>
        <p:nvSpPr>
          <p:cNvPr id="4" name="Text 1"/>
          <p:cNvSpPr/>
          <p:nvPr/>
        </p:nvSpPr>
        <p:spPr>
          <a:xfrm>
            <a:off x="804672" y="352044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AA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¿Preguntas?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804672" y="60350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C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Adrián Álvaro López Pascual · Ingeniería de las Telecomunicaciones · PUCP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2026-07-16T16:18:48Z</dcterms:created>
  <dcterms:modified xsi:type="dcterms:W3CDTF">2026-07-16T16:18:48Z</dcterms:modified>
</cp:coreProperties>
</file>