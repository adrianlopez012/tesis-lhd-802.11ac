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Saludo al jurado. Nombre completo, título de la tesis, asesor. 20 segundos, con calma. La imagen es el modelo 3D real del nivel NV1640 construido en MATLAB.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Descripción breve obligatoria: qué es y qué logra, sin entrar a detalles. 40 segundos. 'Esta tesis diseña y valida la red que permite sacar al operador del frente de riesgo sin detener la producción.'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MINUTOS. Empezar con la historia personal (genuina, 45 s) — el vínculo con la minería y la seguridad del trabajador. Luego el dato duro de OSINERGMIN. Cerrar con la oportunidad técnica: 'la teleoperación existe; lo que falta demostrar es que la RED la sostiene en una mina real. Eso hice.'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MINUTOS. Leer el objetivo general con énfasis en 'evidencia verificable'. Los 6 específicos en 20 segundos cada uno máximo, conectándolos: canal → arquitectura → radio → QoS → validación → idoneidad. Son la columna vertebral de los capítulos.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MINUTOS. MENCIONAR 'Design Thinking' explícitamente (rúbrica). Recorrer los 5 pasos con 30-40 s c/u anclando cada uno a lo que se hizo: empatizar (operador), definir (KPIs), idear (RSL Kitchenham + multicriterio), prototipar (NS-3 con geometría real), validar (TamoGraph + 10 semillas). Cerrar con el rigor estadístico: 'ningún número de esta tesis sale de una sola corrida'.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Inicio de los 7 minutos de resultados. Mostrar el plano real 15 s. REPRODUCIR EL VIDEO (clic) mientras se explica: 'el vehículo recorre el ciclo real de operación; arriba se ve el AP que lo sirve y su nivel de señal — datos de la simulación, no una caricatura'. Si el video no reproduce, seguir con la imagen sin perder ritmo.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slide más importante: 60-90 segundos. Leer los tres primeros con sus requisitos ('3 milisegundos contra un límite de 20'). Insistir: son medias con intervalo de confianza sobre 10 semillas — no una corrida afortunada. Todos cumplen con MARGEN.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 la pregunta clásica del jurado ('¿y si pierde señal en la curva?'). La línea azul nunca baja de -72.1 dBm: margen de 9.9 dB. Explicar el roaming estable: make-before-break, igual que el equipo real. Traspaso peor caso 0.91 ms contra 150 permitidos.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segundos. Mensaje: no solo cumple en condiciones nominales — aguanta 25% más de vídeo y el doble de velocidad. La priorización WMM protege el tráfico crítico: bajo estrés sube la latencia (dentro del límite), no la pérdida.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segundos. Este es el diferenciador técnico: no solo simulación de red — también la capa física del estándar (jerarquía de MCS correcta, constelación 256-QAM tras el canal) y los patrones reales de las antenas en la geometría de la mina. Mensaje: 'el análisis baja hasta el símbolo de modulación'.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segundos. Justificación de cada antena según datasheet Poynting: el Hawk lleva el PAR RCP-50 LHP + RHP (11 dBi, BIDIRECCIONAL, 'Mine/tunnel installations'): dos lóbulos que cubren la galería en AMBOS sentidos, y las dos polarizaciones circulares (izquierda y derecha) dan la diversidad para los 2 streams MIMO — por eso va en los TRAMOS LARGOS. El Cardinal usa la EPNT-7 omni para los cruceros. El LHD lleva la HELI-40 (4.8 dBic), también bidireccional — el vehículo avanza y retrocede. La polarización circular mitiga el multitrayecto de la roca. Patrones calculados por método de momentos; los bidireccionales sintetizados según especificación.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segundos — la slide que blinda el modelo ante el jurado. Justificación paso a paso: (1) construí la galería en 3D con propiedades de roca (permitividad 6, conductividad 0.01 S/m); (2) lancé ray-tracing SBR con hasta 6 reflexiones; (3) en campo cercano AMBOS métodos coinciden (error ~5 dB) — el modelo queda validado por un método independiente; (4) a larga distancia el ray-tracing pierde los rayos porque no modela el guiado de onda del túnel — limitación documentada en la literatura — lo que JUSTIFICA usar el two-slope calibrado con el survey real. Doble validación + honestidad metodológica.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segundos. Recorrer las 4 dimensiones. En económica ser honesto: 'la estructura de costos y los mecanismos de retorno están definidos; la cuantificación exacta requiere cotizaciones vigentes y es el paso siguiente con planeamiento de la mina'.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cierre vendedor que pide el profesor, desde la plataforma de éxito: 60 segundos. Frase central con pausa. Tres columnas: logro, aprendizaje, proyección. Terminar mirando al jurado: 'la tecnología ya existe; lo que esta tesis aporta es la evidencia de que funciona donde más se necesita'.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al jurado y al asesor. Respirar. Las preguntas se responden con la estructura: reconocer → responder con el dato → remitir a la evidencia (capítulo/anexo). Si no sé algo: reconocerlo y remitirlo a trabajo futuro.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video" Target="../media/media-6-2.mp4"/><Relationship Id="rId3" Type="http://schemas.microsoft.com/office/2007/relationships/media" Target="../media/media-6-2.mp4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drian Lopez/Documents/tesis_proyecto/fase4/presentacion/mina_realista_3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6492240" y="1463040"/>
            <a:ext cx="5120640" cy="393192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PERÚ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77240" y="102412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e Ingeniería · Ingeniería de las Telecomunicaciones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7240" y="1965960"/>
            <a:ext cx="5577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 una red IEEE 802.11ac para la teleoperación de un vehículo LHD en la extracción de mineral en galerías subterráneas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777240" y="470916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Adrián Álvaro López Pascual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Asesor: Dr. Pastor David Chávez Muñoz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7240" y="5897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Sustentación · Trabajo de Tesis 2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¿De qué trata este trabajo?</a:t>
            </a:r>
            <a:endParaRPr lang="en-US" sz="3400" dirty="0"/>
          </a:p>
        </p:txBody>
      </p:sp>
      <p:pic>
        <p:nvPicPr>
          <p:cNvPr id="3" name="Image 0" descr="C:/Users/Adrian Lopez/Documents/tesis_proyecto/fase4/presentacion/escena_mina_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371600"/>
            <a:ext cx="5394960" cy="4023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360" y="548640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producción NV1640 (Nexa Cerro Lindo): cobertura calculada, recorrido real del vehículo y patrón de la antena.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85800" y="1463040"/>
            <a:ext cx="5303520" cy="1298448"/>
          </a:xfrm>
          <a:prstGeom prst="roundRect">
            <a:avLst>
              <a:gd name="adj" fmla="val 6338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847088"/>
            <a:ext cx="512064" cy="512064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🕹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160934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Teleoperar un cargador LHD desde superficie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00200" y="2029968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operador sale de la zona de riesgo; el vehículo se conduce por vídeo en tiempo real, comandos y telemetría.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5800" y="2944368"/>
            <a:ext cx="5303520" cy="1298448"/>
          </a:xfrm>
          <a:prstGeom prst="roundRect">
            <a:avLst>
              <a:gd name="adj" fmla="val 6338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328416"/>
            <a:ext cx="512064" cy="512064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310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600200" y="309067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una red IEEE 802.11ac diseñada para la mina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600200" y="3511296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puntos de acceso sobre un backbone de fibra, planificados sobre la geometría real de las galerías.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85800" y="4425696"/>
            <a:ext cx="5303520" cy="1298448"/>
          </a:xfrm>
          <a:prstGeom prst="roundRect">
            <a:avLst>
              <a:gd name="adj" fmla="val 6338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14400" y="4809744"/>
            <a:ext cx="512064" cy="512064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47914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600200" y="45720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Validada por simulación con rigor estadístico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600200" y="4992624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NS-3 sobre el trazado real: 18 ejecuciones, 10 semillas independientes, todos los KPIs cumplen.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esta tesis?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2560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 · 3 min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7160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417320" y="169164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minería está cerca de mi historia personal. Sé lo que significa que alguien entre a una labor subterránea y que su familia espere que vuelva.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17320" y="31089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por eso el problema que resuelvo no es abstracto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97764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DF3E7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4160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que no se puede ignorar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590288"/>
            <a:ext cx="4892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año se registran víctimas mortales en la minería peruana; una parte importante ocurre en el frente de operación, justo donde trabaja el operador del LHD (OSINERGMIN).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0" y="1463040"/>
            <a:ext cx="5074920" cy="4617720"/>
          </a:xfrm>
          <a:prstGeom prst="roundRect">
            <a:avLst>
              <a:gd name="adj" fmla="val 1782"/>
            </a:avLst>
          </a:prstGeom>
          <a:solidFill>
            <a:srgbClr val="021740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20840" y="1691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oportunidad de ingeniería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20840" y="2240280"/>
            <a:ext cx="4434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Retirar a la persona del riesgo </a:t>
            </a:r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detener la extracción: teleoperación.
</a:t>
            </a:r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eslabón crítico es la red</a:t>
            </a:r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vídeo en tiempo real, comandos de baja latencia y telemetría continua dentro de galerías con curvas, polvo y roca.
</a:t>
            </a:r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tesis demuestra que ese eslabón es viable </a:t>
            </a:r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estándar abierto y equipos industriales disponibles.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2560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· 3 min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0835640" cy="1143000"/>
          </a:xfrm>
          <a:prstGeom prst="roundRect">
            <a:avLst>
              <a:gd name="adj" fmla="val 7200"/>
            </a:avLst>
          </a:prstGeom>
          <a:solidFill>
            <a:srgbClr val="0033A0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572768"/>
            <a:ext cx="10287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general: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una red IEEE 802.11ac que soporte la teleoperación de un vehículo LHD en las galerías del nivel NV1640, cumpliendo requisitos de latencia, capacidad y disponibilidad con evidencia verificable.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2880360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86968" y="3081528"/>
            <a:ext cx="512064" cy="512064"/>
          </a:xfrm>
          <a:prstGeom prst="ellipse">
            <a:avLst/>
          </a:prstGeom>
          <a:solidFill>
            <a:srgbClr val="5AA0DC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3063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971800"/>
            <a:ext cx="4343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Caracterizar el canal de propagación en galerías (modelo two-slope calibrado)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880360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9088" y="3081528"/>
            <a:ext cx="512064" cy="512064"/>
          </a:xfrm>
          <a:prstGeom prst="ellipse">
            <a:avLst/>
          </a:prstGeom>
          <a:solidFill>
            <a:srgbClr val="5AA0DC"/>
          </a:solidFill>
          <a:ln/>
        </p:spPr>
      </p:sp>
      <p:sp>
        <p:nvSpPr>
          <p:cNvPr id="12" name="Text 10"/>
          <p:cNvSpPr/>
          <p:nvPr/>
        </p:nvSpPr>
        <p:spPr>
          <a:xfrm>
            <a:off x="6419088" y="3063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971800"/>
            <a:ext cx="4343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 arquitectura física y lógica (backbone óptico + malla de acceso)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959352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" y="4160520"/>
            <a:ext cx="512064" cy="512064"/>
          </a:xfrm>
          <a:prstGeom prst="ellipse">
            <a:avLst/>
          </a:prstGeom>
          <a:solidFill>
            <a:srgbClr val="5AA0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4142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050792"/>
            <a:ext cx="4343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Dimensionar radio y antenas con equipos industriales reales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959352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19088" y="4160520"/>
            <a:ext cx="512064" cy="512064"/>
          </a:xfrm>
          <a:prstGeom prst="ellipse">
            <a:avLst/>
          </a:prstGeom>
          <a:solidFill>
            <a:srgbClr val="5AA0DC"/>
          </a:solidFill>
          <a:ln/>
        </p:spPr>
      </p:sp>
      <p:sp>
        <p:nvSpPr>
          <p:cNvPr id="20" name="Text 18"/>
          <p:cNvSpPr/>
          <p:nvPr/>
        </p:nvSpPr>
        <p:spPr>
          <a:xfrm>
            <a:off x="6419088" y="4142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86600" y="4050792"/>
            <a:ext cx="4343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políticas de QoS y movilidad (WMM, roaming estable)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5038344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86968" y="5239512"/>
            <a:ext cx="512064" cy="512064"/>
          </a:xfrm>
          <a:prstGeom prst="ellipse">
            <a:avLst/>
          </a:prstGeom>
          <a:solidFill>
            <a:srgbClr val="5AA0DC"/>
          </a:solidFill>
          <a:ln/>
        </p:spPr>
      </p:sp>
      <p:sp>
        <p:nvSpPr>
          <p:cNvPr id="24" name="Text 22"/>
          <p:cNvSpPr/>
          <p:nvPr/>
        </p:nvSpPr>
        <p:spPr>
          <a:xfrm>
            <a:off x="886968" y="5221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54480" y="5129784"/>
            <a:ext cx="4343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desempeño extremo a extremo por simulación NS-3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17920" y="5038344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19088" y="5239512"/>
            <a:ext cx="512064" cy="512064"/>
          </a:xfrm>
          <a:prstGeom prst="ellipse">
            <a:avLst/>
          </a:prstGeom>
          <a:solidFill>
            <a:srgbClr val="5AA0DC"/>
          </a:solidFill>
          <a:ln/>
        </p:spPr>
      </p:sp>
      <p:sp>
        <p:nvSpPr>
          <p:cNvPr id="28" name="Text 26"/>
          <p:cNvSpPr/>
          <p:nvPr/>
        </p:nvSpPr>
        <p:spPr>
          <a:xfrm>
            <a:off x="6419088" y="5221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86600" y="5129784"/>
            <a:ext cx="4343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idoneidad técnica, económica, regulatoria y ética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Metodología: Design Thinking aplicado a ingeniería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2560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· 5 min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2075688" cy="2377440"/>
          </a:xfrm>
          <a:prstGeom prst="roundRect">
            <a:avLst>
              <a:gd name="adj" fmla="val 3965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4752" y="1783080"/>
            <a:ext cx="566928" cy="566928"/>
          </a:xfrm>
          <a:prstGeom prst="ellipse">
            <a:avLst/>
          </a:prstGeom>
          <a:solidFill>
            <a:srgbClr val="E64A19"/>
          </a:solidFill>
          <a:ln/>
        </p:spPr>
      </p:sp>
      <p:sp>
        <p:nvSpPr>
          <p:cNvPr id="6" name="Text 4"/>
          <p:cNvSpPr/>
          <p:nvPr/>
        </p:nvSpPr>
        <p:spPr>
          <a:xfrm>
            <a:off x="1444752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450592"/>
            <a:ext cx="2075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Empatizar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13816" y="28346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operador y su exposición al riesgo en el frente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2734056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44368" y="1554480"/>
            <a:ext cx="2075688" cy="2377440"/>
          </a:xfrm>
          <a:prstGeom prst="roundRect">
            <a:avLst>
              <a:gd name="adj" fmla="val 3965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1783080"/>
            <a:ext cx="566928" cy="566928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44368" y="2450592"/>
            <a:ext cx="2075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072384" y="28346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y KPIs medibles por flujo (vídeo, mando, telemetría)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4992624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202936" y="1554480"/>
            <a:ext cx="2075688" cy="2377440"/>
          </a:xfrm>
          <a:prstGeom prst="roundRect">
            <a:avLst>
              <a:gd name="adj" fmla="val 3965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61888" y="1783080"/>
            <a:ext cx="566928" cy="566928"/>
          </a:xfrm>
          <a:prstGeom prst="ellipse">
            <a:avLst/>
          </a:prstGeom>
          <a:solidFill>
            <a:srgbClr val="FBC02D"/>
          </a:solidFill>
          <a:ln/>
        </p:spPr>
      </p:sp>
      <p:sp>
        <p:nvSpPr>
          <p:cNvPr id="18" name="Text 16"/>
          <p:cNvSpPr/>
          <p:nvPr/>
        </p:nvSpPr>
        <p:spPr>
          <a:xfrm>
            <a:off x="5961888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02936" y="2450592"/>
            <a:ext cx="2075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330952" y="28346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multicriterio de tecnologías (RSL método Kitchenham)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7251192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461504" y="1554480"/>
            <a:ext cx="2075688" cy="2377440"/>
          </a:xfrm>
          <a:prstGeom prst="roundRect">
            <a:avLst>
              <a:gd name="adj" fmla="val 3965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0456" y="1783080"/>
            <a:ext cx="566928" cy="566928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24" name="Text 22"/>
          <p:cNvSpPr/>
          <p:nvPr/>
        </p:nvSpPr>
        <p:spPr>
          <a:xfrm>
            <a:off x="8220456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61504" y="2450592"/>
            <a:ext cx="2075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Prototipar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89520" y="28346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NS-3 sobre la geometría real + MATLAB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950976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720072" y="1554480"/>
            <a:ext cx="2075688" cy="2377440"/>
          </a:xfrm>
          <a:prstGeom prst="roundRect">
            <a:avLst>
              <a:gd name="adj" fmla="val 3965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479024" y="1783080"/>
            <a:ext cx="566928" cy="566928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30" name="Text 28"/>
          <p:cNvSpPr/>
          <p:nvPr/>
        </p:nvSpPr>
        <p:spPr>
          <a:xfrm>
            <a:off x="10479024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720072" y="2450592"/>
            <a:ext cx="2075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848088" y="28346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con site survey TamoGraph + batería multi-semilla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85800" y="434340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021740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6012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60120" y="4919472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NS-3.40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simulación de red a nivel de paquetes  ·  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R2024b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modelamiento del canal, antenas y entorno 3D  ·  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TamoGraph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site survey real de contraste  ·  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fuente única de parámetros y trazabilidad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55080" y="434340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62940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de la validación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629400" y="4919472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ejecuciones de 300 s  ·  10 semillas independientes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como media ± intervalo de confianza al 95 %. Escenarios de operación, referencia, estrés y traspaso.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diseño vive en la geometría real de la mina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2560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7 min</a:t>
            </a:r>
            <a:endParaRPr lang="en-US" sz="1200" dirty="0"/>
          </a:p>
        </p:txBody>
      </p:sp>
      <p:pic>
        <p:nvPicPr>
          <p:cNvPr id="4" name="Image 0" descr="C:/Users/Adrian Lopez/Documents/tesis_proyecto/fase4/presentacion/plano_nv1640_p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54864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623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del nivel NV1640 (block caving tipo El Teniente): galerías, cruceros, drawpoints y los 12 AP.</a:t>
            </a:r>
            <a:endParaRPr lang="en-US" sz="1100" dirty="0"/>
          </a:p>
        </p:txBody>
      </p:sp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537960" y="1463040"/>
            <a:ext cx="4937760" cy="2788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37960" y="43434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Recorrido del LHD teleoperado (animación 3D con datos reales de la simulación: AP servidor y RSSI en vivo)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537960" y="5029200"/>
            <a:ext cx="4937760" cy="1051560"/>
          </a:xfrm>
          <a:prstGeom prst="roundRect">
            <a:avLst>
              <a:gd name="adj" fmla="val 7826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766560" y="5138928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señal no atraviesa la roca.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respeta la física del túnel: la cobertura viaja por las labores abiertas, con penalización por cada galería cruzada.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todos los KPIs se cumplen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126187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ejecuciones · 10 semillas independientes · media ± intervalo de confianza al 95 %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48840"/>
            <a:ext cx="3456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3.04 ms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OWD comandos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≤ 20 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0832" y="192024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0832" y="2148840"/>
            <a:ext cx="3456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35.9 ms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370832" y="3017520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vídeo E2E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70832" y="338328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≤ 150 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55864" y="192024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55864" y="2148840"/>
            <a:ext cx="3456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0.28 ms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055864" y="3017520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P95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55864" y="338328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≤ 10 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06908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297680"/>
            <a:ext cx="3456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40.1 Mbps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85800" y="5166360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vídeo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53212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≥ 38 Mbps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70832" y="406908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70832" y="4297680"/>
            <a:ext cx="3456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0.06 %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4370832" y="5166360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PLR comandos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70832" y="553212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≤ 0.5 %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55864" y="406908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55864" y="4297680"/>
            <a:ext cx="3456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8055864" y="5166360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55864" y="553212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≥ 99.9 %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red cubre todo el recorrido del vehículo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2560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7 min</a:t>
            </a:r>
            <a:endParaRPr lang="en-US" sz="1200" dirty="0"/>
          </a:p>
        </p:txBody>
      </p:sp>
      <p:pic>
        <p:nvPicPr>
          <p:cNvPr id="4" name="Image 0" descr="C:/Users/Adrian Lopez/Documents/tesis_proyecto/fase4/presentacion/grafico_rssi_asoci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694944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50876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63840" y="16916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−72.1 dBm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001000" y="2487168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peor nivel de señal del enlace en todo el ciclo (9.9 dB sobre el umbral usable)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863840" y="352044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92440" y="37033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Roaming estable por diseño.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vehículo no persigue al AP más cercano (evita micro-cortes): mantiene un enlace tipo make-before-break, como la malla industrial real. Cuando el traspaso ocurre, dura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1 ms.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57607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RSSI del enlace asociado durante el recorrido — 10 semillas.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diseño resiste condiciones de estrés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2560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7 min</a:t>
            </a:r>
            <a:endParaRPr lang="en-US" sz="1200" dirty="0"/>
          </a:p>
        </p:txBody>
      </p:sp>
      <p:pic>
        <p:nvPicPr>
          <p:cNvPr id="4" name="Image 0" descr="C:/Users/Adrian Lopez/Documents/tesis_proyecto/fase4/presentacion/resultados_e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745236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66760" y="1463040"/>
            <a:ext cx="3108960" cy="2103120"/>
          </a:xfrm>
          <a:prstGeom prst="roundRect">
            <a:avLst>
              <a:gd name="adj" fmla="val 3913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49640" y="16276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a 50 Mbps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549640" y="201168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(+25 % sobre lo nominal): la red mantiene TODOS los criterios; la presión se ve en latencia (OWD ×2.3), no en pérdidas.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366760" y="3749040"/>
            <a:ext cx="3108960" cy="2194560"/>
          </a:xfrm>
          <a:prstGeom prst="roundRect">
            <a:avLst>
              <a:gd name="adj" fmla="val 375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49640" y="39136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a 4 m/s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549640" y="429768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 doble de la operación): sin degradación de KPIs. Hay margen de dimensionamiento verificable, no un diseño al límite.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estándar físico a la antena: profundidad del análisis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2560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7 min</a:t>
            </a:r>
            <a:endParaRPr lang="en-US" sz="1200" dirty="0"/>
          </a:p>
        </p:txBody>
      </p:sp>
      <p:pic>
        <p:nvPicPr>
          <p:cNvPr id="4" name="Image 0" descr="C:/Users/Adrian Lopez/Documents/tesis_proyecto/fase4/presentacion/wlan_802_11a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667512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44348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física 802.11ac real (WLAN Toolbox): PER vs SNR por esquema de modulación y constelación 256-QAM ecualizada tras el canal.</a:t>
            </a:r>
            <a:endParaRPr lang="en-US" sz="1100" dirty="0"/>
          </a:p>
        </p:txBody>
      </p:sp>
      <p:pic>
        <p:nvPicPr>
          <p:cNvPr id="6" name="Image 1" descr="C:/Users/Adrian Lopez/Documents/tesis_proyecto/fase4/presentacion/patron_antenas_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554480"/>
            <a:ext cx="3886200" cy="2834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35240" y="443484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12 AP irradiando con sus patrones reales (Antenna Toolbox) sobre la geometría de la mina.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85800" y="5166360"/>
            <a:ext cx="10789920" cy="960120"/>
          </a:xfrm>
          <a:prstGeom prst="roundRect">
            <a:avLst>
              <a:gd name="adj" fmla="val 8571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914400" y="5285232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niveles de validación: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canal calibrado con site survey real (TamoGraph) · simulación de red completa (NS-3) · capa física del estándar y patrones de antena (MATLAB). Cada decisión del diseño es trazable a evidencia.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antenas del diseño y sus patrones 3D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2560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7 min</a:t>
            </a:r>
            <a:endParaRPr lang="en-US" sz="1200" dirty="0"/>
          </a:p>
        </p:txBody>
      </p:sp>
      <p:pic>
        <p:nvPicPr>
          <p:cNvPr id="4" name="Image 0" descr="C:/Users/Adrian Lopez/Documents/tesis_proyecto/fase4/presentacion/patron3d_haw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3794760" cy="3063240"/>
          </a:xfrm>
          <a:prstGeom prst="rect">
            <a:avLst/>
          </a:prstGeom>
        </p:spPr>
      </p:pic>
      <p:pic>
        <p:nvPicPr>
          <p:cNvPr id="5" name="Image 1" descr="C:/Users/Adrian Lopez/Documents/tesis_proyecto/fase4/presentacion/patron3d_card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554480"/>
            <a:ext cx="3794760" cy="3063240"/>
          </a:xfrm>
          <a:prstGeom prst="rect">
            <a:avLst/>
          </a:prstGeom>
        </p:spPr>
      </p:pic>
      <p:pic>
        <p:nvPicPr>
          <p:cNvPr id="6" name="Image 2" descr="C:/Users/Adrian Lopez/Documents/tesis_proyecto/fase4/presentacion/patron3d_lh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554480"/>
            <a:ext cx="3337560" cy="306324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02920" y="4709160"/>
            <a:ext cx="3794760" cy="960120"/>
          </a:xfrm>
          <a:prstGeom prst="roundRect">
            <a:avLst>
              <a:gd name="adj" fmla="val 8571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8" name="Text 3"/>
          <p:cNvSpPr/>
          <p:nvPr/>
        </p:nvSpPr>
        <p:spPr>
          <a:xfrm>
            <a:off x="685800" y="4800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 — RCP-50 LHP/RHP (par)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685800" y="51206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dBi · BIDIRECCIONAL: dos lóbulos a lo largo de la galería · pol. circular izq./der. (diversidad MIMO) · tramos largos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4434840" y="4709160"/>
            <a:ext cx="3794760" cy="960120"/>
          </a:xfrm>
          <a:prstGeom prst="roundRect">
            <a:avLst>
              <a:gd name="adj" fmla="val 8571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4617720" y="4800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 — EPNT-7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4617720" y="51206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dBi · omnidireccional (la “dona” es su patrón real) · cruceros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8366760" y="4709160"/>
            <a:ext cx="3337560" cy="960120"/>
          </a:xfrm>
          <a:prstGeom prst="roundRect">
            <a:avLst>
              <a:gd name="adj" fmla="val 8571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8549640" y="48006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LHD — HELI-40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8549640" y="5120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dBic · pol. circular · BIDIRECCIONAL: dos lóbulos por el túnel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685800" y="5943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directividad calculados por método de momentos (Antenna Toolbox, 5 GHz); los bidireccionales (RCP-50 y HELI-40) sintetizados según la especificación de sus datasheets Poynting.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cruzada del modelo de canal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2560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7 min</a:t>
            </a:r>
            <a:endParaRPr lang="en-US" sz="1200" dirty="0"/>
          </a:p>
        </p:txBody>
      </p:sp>
      <p:pic>
        <p:nvPicPr>
          <p:cNvPr id="4" name="Image 0" descr="C:/Users/Adrian Lopez/Documents/tesis_proyecto/fase4/presentacion/raytracing_valid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731520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508760"/>
            <a:ext cx="3246120" cy="2057400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12480" y="16642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concordancia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412480" y="2048256"/>
            <a:ext cx="2926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campo cercano, el ray-tracing 3D (SBR, roca εr=6, σ=0.01 S/m) coincide con el modelo two-slope: error medio ≈ 5 dB.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229600" y="3749040"/>
            <a:ext cx="3246120" cy="2148840"/>
          </a:xfrm>
          <a:prstGeom prst="roundRect">
            <a:avLst>
              <a:gd name="adj" fmla="val 383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412480" y="390448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donde divergen…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12480" y="4288536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…el ray-tracing SUBESTIMA el alcance: no captura el modo guía de onda del túnel (Sun &amp; Akyildiz). Justo por eso el diseño usa el two-slope calibrado con el site survey.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85800" y="5806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two-slope vs ray-tracing SBR sobre la geometría 3D de la galería (MATLAB).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solución idónea en todas sus dimensiones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2560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7 min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5577840" cy="1005840"/>
          </a:xfrm>
          <a:prstGeom prst="roundRect">
            <a:avLst>
              <a:gd name="adj" fmla="val 8182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09928"/>
            <a:ext cx="512064" cy="512064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5544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600200" y="19202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KPIs cumplen con margen y respaldo estadístico de 10 semillas.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85800" y="2633472"/>
            <a:ext cx="5577840" cy="1005840"/>
          </a:xfrm>
          <a:prstGeom prst="roundRect">
            <a:avLst>
              <a:gd name="adj" fmla="val 8182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880360"/>
            <a:ext cx="512064" cy="512064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620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27249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600200" y="309067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incremental sobre la infraestructura existente; despliegue gradual por frentes.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85800" y="3803904"/>
            <a:ext cx="5577840" cy="1005840"/>
          </a:xfrm>
          <a:prstGeom prst="roundRect">
            <a:avLst>
              <a:gd name="adj" fmla="val 8182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050792"/>
            <a:ext cx="512064" cy="512064"/>
          </a:xfrm>
          <a:prstGeom prst="ellipse">
            <a:avLst/>
          </a:prstGeom>
          <a:solidFill>
            <a:srgbClr val="5AA0D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32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38953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Regulatoria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600200" y="4261104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5 GHz de uso libre (MTC); alineada al reglamento de seguridad minera (D.S. 024-2016-EM).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85800" y="4974336"/>
            <a:ext cx="5577840" cy="1005840"/>
          </a:xfrm>
          <a:prstGeom prst="roundRect">
            <a:avLst>
              <a:gd name="adj" fmla="val 8182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221224"/>
            <a:ext cx="512064" cy="512064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202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506577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y social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600200" y="543153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 al trabajador de la zona de riesgo; gestión responsable del cambio con el personal.</a:t>
            </a:r>
            <a:endParaRPr lang="en-US" sz="1080" dirty="0"/>
          </a:p>
        </p:txBody>
      </p:sp>
      <p:pic>
        <p:nvPicPr>
          <p:cNvPr id="24" name="Image 0" descr="C:/Users/Adrian Lopez/Documents/tesis_proyecto/fase4/presentacion/fig_capex_op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554480"/>
            <a:ext cx="4892040" cy="39776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629400" y="55778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económica: inversión, operación y mecanismos de retorno.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1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final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188720" y="1554480"/>
            <a:ext cx="9829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Diseñé una red que puede sacar a una persona de la zona de peligro dentro de una mina.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88720" y="3154680"/>
            <a:ext cx="9829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demostré, con evidencia reproducible, que es viable.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406908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4251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logré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4681728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red validada sobre la geometría real, con todos los KPIs cumplidos y trazabilidad completa de cada número.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406908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4251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4681728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integrar propagación, redes y análisis de idoneidad — y a defender cada decisión con datos, no con opiniones.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92440" y="406908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4251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4681728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camino replicable hacia una minería peruana más segura — y la base de un artículo de investigación.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1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drian Lopez/Documents/tesis_proyecto/fase4/presentacion/mina_realista_3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315200" y="3291840"/>
            <a:ext cx="4873752" cy="35661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804672" y="3520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04672" y="6035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Adrián Álvaro López Pascual · Ingeniería de las Telecomunicaciones · PUCP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2026-07-16T18:20:26Z</dcterms:created>
  <dcterms:modified xsi:type="dcterms:W3CDTF">2026-07-16T18:20:26Z</dcterms:modified>
</cp:coreProperties>
</file>