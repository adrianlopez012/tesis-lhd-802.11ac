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424160" y="274320"/>
            <a:ext cx="1463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B6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Tarjeta 1 / 16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731520" y="1097280"/>
            <a:ext cx="10698480" cy="2286000"/>
          </a:xfrm>
          <a:prstGeom prst="roundRect">
            <a:avLst>
              <a:gd name="adj" fmla="val 4000"/>
            </a:avLst>
          </a:prstGeom>
          <a:solidFill>
            <a:srgbClr val="0033A0"/>
          </a:solidFill>
          <a:ln/>
        </p:spPr>
      </p:sp>
      <p:sp>
        <p:nvSpPr>
          <p:cNvPr id="4" name="Text 2"/>
          <p:cNvSpPr/>
          <p:nvPr/>
        </p:nvSpPr>
        <p:spPr>
          <a:xfrm>
            <a:off x="1097280" y="13258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2E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PREGUNTA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1097280" y="1737360"/>
            <a:ext cx="99669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¿Por qué 802.11ac y no 5G privado?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731520" y="3657600"/>
            <a:ext cx="10698480" cy="2651760"/>
          </a:xfrm>
          <a:prstGeom prst="roundRect">
            <a:avLst>
              <a:gd name="adj" fmla="val 3448"/>
            </a:avLst>
          </a:prstGeom>
          <a:solidFill>
            <a:srgbClr val="EAF2FB"/>
          </a:solidFill>
          <a:ln w="19050">
            <a:solidFill>
              <a:srgbClr val="2E8B5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97280" y="388620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DEBO RECORDAR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097280" y="4343400"/>
            <a:ext cx="996696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Equipos ya son 802.11ac · sin licencia de espectro (5 GHz libre) · capacidad sobra para 1 LHD. 5G = evolución futura.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424160" y="274320"/>
            <a:ext cx="1463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B6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Tarjeta 2 / 16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731520" y="1097280"/>
            <a:ext cx="10698480" cy="2286000"/>
          </a:xfrm>
          <a:prstGeom prst="roundRect">
            <a:avLst>
              <a:gd name="adj" fmla="val 4000"/>
            </a:avLst>
          </a:prstGeom>
          <a:solidFill>
            <a:srgbClr val="0033A0"/>
          </a:solidFill>
          <a:ln/>
        </p:spPr>
      </p:sp>
      <p:sp>
        <p:nvSpPr>
          <p:cNvPr id="4" name="Text 2"/>
          <p:cNvSpPr/>
          <p:nvPr/>
        </p:nvSpPr>
        <p:spPr>
          <a:xfrm>
            <a:off x="1097280" y="13258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2E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PREGUNTA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1097280" y="1737360"/>
            <a:ext cx="99669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¿Simulación determinista sin shadowing?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731520" y="3657600"/>
            <a:ext cx="10698480" cy="2651760"/>
          </a:xfrm>
          <a:prstGeom prst="roundRect">
            <a:avLst>
              <a:gd name="adj" fmla="val 3448"/>
            </a:avLst>
          </a:prstGeom>
          <a:solidFill>
            <a:srgbClr val="EAF2FB"/>
          </a:solidFill>
          <a:ln w="19050">
            <a:solidFill>
              <a:srgbClr val="2E8B5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97280" y="388620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DEBO RECORDAR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097280" y="4343400"/>
            <a:ext cx="996696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Decisión metodológica: shadowing desestabiliza el roaming de NS-3. Variabilidad ±σ se analiza aparte (mapa + TamoGraph). Modelo conservador.</a:t>
            </a:r>
            <a:endParaRPr lang="en-US" sz="2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424160" y="274320"/>
            <a:ext cx="1463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B6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Tarjeta 3 / 16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731520" y="1097280"/>
            <a:ext cx="10698480" cy="2286000"/>
          </a:xfrm>
          <a:prstGeom prst="roundRect">
            <a:avLst>
              <a:gd name="adj" fmla="val 4000"/>
            </a:avLst>
          </a:prstGeom>
          <a:solidFill>
            <a:srgbClr val="0033A0"/>
          </a:solidFill>
          <a:ln/>
        </p:spPr>
      </p:sp>
      <p:sp>
        <p:nvSpPr>
          <p:cNvPr id="4" name="Text 2"/>
          <p:cNvSpPr/>
          <p:nvPr/>
        </p:nvSpPr>
        <p:spPr>
          <a:xfrm>
            <a:off x="1097280" y="13258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2E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PREGUNTA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1097280" y="1737360"/>
            <a:ext cx="99669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¿Cómo validó la propagación?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731520" y="3657600"/>
            <a:ext cx="10698480" cy="2651760"/>
          </a:xfrm>
          <a:prstGeom prst="roundRect">
            <a:avLst>
              <a:gd name="adj" fmla="val 3448"/>
            </a:avLst>
          </a:prstGeom>
          <a:solidFill>
            <a:srgbClr val="EAF2FB"/>
          </a:solidFill>
          <a:ln w="19050">
            <a:solidFill>
              <a:srgbClr val="2E8B5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97280" y="388620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DEBO RECORDAR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097280" y="4343400"/>
            <a:ext cx="996696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Validación de DISEÑO, no de campo. Modelo two-slope calibrado con el site survey TamoGraph real. Medición propia = trabajo futuro.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424160" y="274320"/>
            <a:ext cx="1463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B6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Tarjeta 4 / 16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731520" y="1097280"/>
            <a:ext cx="10698480" cy="2286000"/>
          </a:xfrm>
          <a:prstGeom prst="roundRect">
            <a:avLst>
              <a:gd name="adj" fmla="val 4000"/>
            </a:avLst>
          </a:prstGeom>
          <a:solidFill>
            <a:srgbClr val="0033A0"/>
          </a:solidFill>
          <a:ln/>
        </p:spPr>
      </p:sp>
      <p:sp>
        <p:nvSpPr>
          <p:cNvPr id="4" name="Text 2"/>
          <p:cNvSpPr/>
          <p:nvPr/>
        </p:nvSpPr>
        <p:spPr>
          <a:xfrm>
            <a:off x="1097280" y="13258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2E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PREGUNTA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1097280" y="1737360"/>
            <a:ext cx="99669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¿Por qué no se conecta al AP más cercano?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731520" y="3657600"/>
            <a:ext cx="10698480" cy="2651760"/>
          </a:xfrm>
          <a:prstGeom prst="roundRect">
            <a:avLst>
              <a:gd name="adj" fmla="val 3448"/>
            </a:avLst>
          </a:prstGeom>
          <a:solidFill>
            <a:srgbClr val="EAF2FB"/>
          </a:solidFill>
          <a:ln w="19050">
            <a:solidFill>
              <a:srgbClr val="2E8B5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97280" y="388620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DEBO RECORDAR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097280" y="4343400"/>
            <a:ext cx="996696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Roaming estable make-before-break (evita ping-pong). Enlace nunca baja de −72.1 dBm, 9.9 dB de margen. Traspaso &lt; 1 ms.</a:t>
            </a:r>
            <a:endParaRPr lang="en-US" sz="2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424160" y="274320"/>
            <a:ext cx="1463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B6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Tarjeta 5 / 16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731520" y="1097280"/>
            <a:ext cx="10698480" cy="2286000"/>
          </a:xfrm>
          <a:prstGeom prst="roundRect">
            <a:avLst>
              <a:gd name="adj" fmla="val 4000"/>
            </a:avLst>
          </a:prstGeom>
          <a:solidFill>
            <a:srgbClr val="0033A0"/>
          </a:solidFill>
          <a:ln/>
        </p:spPr>
      </p:sp>
      <p:sp>
        <p:nvSpPr>
          <p:cNvPr id="4" name="Text 2"/>
          <p:cNvSpPr/>
          <p:nvPr/>
        </p:nvSpPr>
        <p:spPr>
          <a:xfrm>
            <a:off x="1097280" y="13258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2E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PREGUNTA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1097280" y="1737360"/>
            <a:ext cx="99669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¿La señal atraviesa la roca?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731520" y="3657600"/>
            <a:ext cx="10698480" cy="2651760"/>
          </a:xfrm>
          <a:prstGeom prst="roundRect">
            <a:avLst>
              <a:gd name="adj" fmla="val 3448"/>
            </a:avLst>
          </a:prstGeom>
          <a:solidFill>
            <a:srgbClr val="EAF2FB"/>
          </a:solidFill>
          <a:ln w="19050">
            <a:solidFill>
              <a:srgbClr val="2E8B5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97280" y="388620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DEBO RECORDAR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097280" y="4343400"/>
            <a:ext cx="996696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NO. A 5 GHz la roca bloquea. La señal viaja por labores abiertas (galerías + cruceros), +10 dB por galería cruzada. Supuesto conservador.</a:t>
            </a:r>
            <a:endParaRPr lang="en-US" sz="2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424160" y="274320"/>
            <a:ext cx="1463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B6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Tarjeta 6 / 16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731520" y="1097280"/>
            <a:ext cx="10698480" cy="2286000"/>
          </a:xfrm>
          <a:prstGeom prst="roundRect">
            <a:avLst>
              <a:gd name="adj" fmla="val 4000"/>
            </a:avLst>
          </a:prstGeom>
          <a:solidFill>
            <a:srgbClr val="0033A0"/>
          </a:solidFill>
          <a:ln/>
        </p:spPr>
      </p:sp>
      <p:sp>
        <p:nvSpPr>
          <p:cNvPr id="4" name="Text 2"/>
          <p:cNvSpPr/>
          <p:nvPr/>
        </p:nvSpPr>
        <p:spPr>
          <a:xfrm>
            <a:off x="1097280" y="13258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2E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PREGUNTA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1097280" y="1737360"/>
            <a:ext cx="99669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¿Qué metodología usó?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731520" y="3657600"/>
            <a:ext cx="10698480" cy="2651760"/>
          </a:xfrm>
          <a:prstGeom prst="roundRect">
            <a:avLst>
              <a:gd name="adj" fmla="val 3448"/>
            </a:avLst>
          </a:prstGeom>
          <a:solidFill>
            <a:srgbClr val="EAF2FB"/>
          </a:solidFill>
          <a:ln w="19050">
            <a:solidFill>
              <a:srgbClr val="2E8B5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97280" y="388620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DEBO RECORDAR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097280" y="4343400"/>
            <a:ext cx="996696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THINKING: empatizar → definir → idear → prototipar (NS-3) → validar (TamoGraph). Centrado en la seguridad del operador.</a:t>
            </a:r>
            <a:endParaRPr lang="en-US" sz="2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424160" y="274320"/>
            <a:ext cx="1463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B6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Tarjeta 7 / 16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731520" y="1097280"/>
            <a:ext cx="10698480" cy="2286000"/>
          </a:xfrm>
          <a:prstGeom prst="roundRect">
            <a:avLst>
              <a:gd name="adj" fmla="val 4000"/>
            </a:avLst>
          </a:prstGeom>
          <a:solidFill>
            <a:srgbClr val="0033A0"/>
          </a:solidFill>
          <a:ln/>
        </p:spPr>
      </p:sp>
      <p:sp>
        <p:nvSpPr>
          <p:cNvPr id="4" name="Text 2"/>
          <p:cNvSpPr/>
          <p:nvPr/>
        </p:nvSpPr>
        <p:spPr>
          <a:xfrm>
            <a:off x="1097280" y="13258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2E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PREGUNTA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1097280" y="1737360"/>
            <a:ext cx="99669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¿Cuántas corridas? ¿Es casualidad?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731520" y="3657600"/>
            <a:ext cx="10698480" cy="2651760"/>
          </a:xfrm>
          <a:prstGeom prst="roundRect">
            <a:avLst>
              <a:gd name="adj" fmla="val 3448"/>
            </a:avLst>
          </a:prstGeom>
          <a:solidFill>
            <a:srgbClr val="EAF2FB"/>
          </a:solidFill>
          <a:ln w="19050">
            <a:solidFill>
              <a:srgbClr val="2E8B5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97280" y="388620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DEBO RECORDAR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097280" y="4343400"/>
            <a:ext cx="996696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simulaciones · 10 semillas independientes · media ± IC 95%. Respaldo estadístico, no una corrida afortunada.</a:t>
            </a:r>
            <a:endParaRPr lang="en-US" sz="2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424160" y="274320"/>
            <a:ext cx="1463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B6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Tarjeta 8 / 16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731520" y="1097280"/>
            <a:ext cx="10698480" cy="2286000"/>
          </a:xfrm>
          <a:prstGeom prst="roundRect">
            <a:avLst>
              <a:gd name="adj" fmla="val 4000"/>
            </a:avLst>
          </a:prstGeom>
          <a:solidFill>
            <a:srgbClr val="0033A0"/>
          </a:solidFill>
          <a:ln/>
        </p:spPr>
      </p:sp>
      <p:sp>
        <p:nvSpPr>
          <p:cNvPr id="4" name="Text 2"/>
          <p:cNvSpPr/>
          <p:nvPr/>
        </p:nvSpPr>
        <p:spPr>
          <a:xfrm>
            <a:off x="1097280" y="13258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2E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PREGUNTA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1097280" y="1737360"/>
            <a:ext cx="99669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Resultados principales (memorizar)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731520" y="3657600"/>
            <a:ext cx="10698480" cy="2651760"/>
          </a:xfrm>
          <a:prstGeom prst="roundRect">
            <a:avLst>
              <a:gd name="adj" fmla="val 3448"/>
            </a:avLst>
          </a:prstGeom>
          <a:solidFill>
            <a:srgbClr val="EAF2FB"/>
          </a:solidFill>
          <a:ln w="19050">
            <a:solidFill>
              <a:srgbClr val="2E8B5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97280" y="388620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DEBO RECORDAR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097280" y="4343400"/>
            <a:ext cx="996696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Comandos 3 ms (≤20) · Vídeo 36 ms (≤150) · Jitter 0.28 ms · Throughput 40 Mbps · Disponibilidad 100%. TODOS cumplen.</a:t>
            </a:r>
            <a:endParaRPr lang="en-US" sz="2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424160" y="274320"/>
            <a:ext cx="1463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B6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Tarjeta 9 / 16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731520" y="1097280"/>
            <a:ext cx="10698480" cy="2286000"/>
          </a:xfrm>
          <a:prstGeom prst="roundRect">
            <a:avLst>
              <a:gd name="adj" fmla="val 4000"/>
            </a:avLst>
          </a:prstGeom>
          <a:solidFill>
            <a:srgbClr val="0033A0"/>
          </a:solidFill>
          <a:ln/>
        </p:spPr>
      </p:sp>
      <p:sp>
        <p:nvSpPr>
          <p:cNvPr id="4" name="Text 2"/>
          <p:cNvSpPr/>
          <p:nvPr/>
        </p:nvSpPr>
        <p:spPr>
          <a:xfrm>
            <a:off x="1097280" y="13258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2E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PREGUNTA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1097280" y="1737360"/>
            <a:ext cx="99669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¿Jitter 0.28 ms es creíble?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731520" y="3657600"/>
            <a:ext cx="10698480" cy="2651760"/>
          </a:xfrm>
          <a:prstGeom prst="roundRect">
            <a:avLst>
              <a:gd name="adj" fmla="val 3448"/>
            </a:avLst>
          </a:prstGeom>
          <a:solidFill>
            <a:srgbClr val="EAF2FB"/>
          </a:solidFill>
          <a:ln w="19050">
            <a:solidFill>
              <a:srgbClr val="2E8B5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97280" y="388620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DEBO RECORDAR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097280" y="4343400"/>
            <a:ext cx="996696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Sí. Enlace sin congestión = jitter mínimo (deseable). Medido con resolución fina 0.05 ms. Vídeo VBR H.264 aporta jitter realista.</a:t>
            </a:r>
            <a:endParaRPr lang="en-US" sz="2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424160" y="274320"/>
            <a:ext cx="1463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B6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Tarjeta 10 / 16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731520" y="1097280"/>
            <a:ext cx="10698480" cy="2286000"/>
          </a:xfrm>
          <a:prstGeom prst="roundRect">
            <a:avLst>
              <a:gd name="adj" fmla="val 4000"/>
            </a:avLst>
          </a:prstGeom>
          <a:solidFill>
            <a:srgbClr val="0033A0"/>
          </a:solidFill>
          <a:ln/>
        </p:spPr>
      </p:sp>
      <p:sp>
        <p:nvSpPr>
          <p:cNvPr id="4" name="Text 2"/>
          <p:cNvSpPr/>
          <p:nvPr/>
        </p:nvSpPr>
        <p:spPr>
          <a:xfrm>
            <a:off x="1097280" y="13258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2E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PREGUNTA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1097280" y="1737360"/>
            <a:ext cx="99669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¿Estrés de vídeo 50 Mbps falla?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731520" y="3657600"/>
            <a:ext cx="10698480" cy="2651760"/>
          </a:xfrm>
          <a:prstGeom prst="roundRect">
            <a:avLst>
              <a:gd name="adj" fmla="val 3448"/>
            </a:avLst>
          </a:prstGeom>
          <a:solidFill>
            <a:srgbClr val="EAF2FB"/>
          </a:solidFill>
          <a:ln w="19050">
            <a:solidFill>
              <a:srgbClr val="2E8B5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97280" y="388620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DEBO RECORDAR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097280" y="4343400"/>
            <a:ext cx="996696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falla. Comandos suben a 6.8 ms (&lt; 20). Demuestra margen de dimensionamiento + la priorización WMM protege el tráfico crítico.</a:t>
            </a:r>
            <a:endParaRPr lang="en-US" sz="2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424160" y="274320"/>
            <a:ext cx="1463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B6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Tarjeta 11 / 16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731520" y="1097280"/>
            <a:ext cx="10698480" cy="2286000"/>
          </a:xfrm>
          <a:prstGeom prst="roundRect">
            <a:avLst>
              <a:gd name="adj" fmla="val 4000"/>
            </a:avLst>
          </a:prstGeom>
          <a:solidFill>
            <a:srgbClr val="0033A0"/>
          </a:solidFill>
          <a:ln/>
        </p:spPr>
      </p:sp>
      <p:sp>
        <p:nvSpPr>
          <p:cNvPr id="4" name="Text 2"/>
          <p:cNvSpPr/>
          <p:nvPr/>
        </p:nvSpPr>
        <p:spPr>
          <a:xfrm>
            <a:off x="1097280" y="13258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2E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PREGUNTA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1097280" y="1737360"/>
            <a:ext cx="99669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¿Cuánto cuesta?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731520" y="3657600"/>
            <a:ext cx="10698480" cy="2651760"/>
          </a:xfrm>
          <a:prstGeom prst="roundRect">
            <a:avLst>
              <a:gd name="adj" fmla="val 3448"/>
            </a:avLst>
          </a:prstGeom>
          <a:solidFill>
            <a:srgbClr val="EAF2FB"/>
          </a:solidFill>
          <a:ln w="19050">
            <a:solidFill>
              <a:srgbClr val="2E8B5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97280" y="388620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DEBO RECORDAR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097280" y="4343400"/>
            <a:ext cx="996696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cifra (no invento sin cotización). Inversión incremental sobre infra existente. Retorno: menos accidentes + continuidad. Cuantificar = futuro.</a:t>
            </a:r>
            <a:endParaRPr lang="en-US" sz="2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424160" y="274320"/>
            <a:ext cx="1463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B6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Tarjeta 12 / 16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731520" y="1097280"/>
            <a:ext cx="10698480" cy="2286000"/>
          </a:xfrm>
          <a:prstGeom prst="roundRect">
            <a:avLst>
              <a:gd name="adj" fmla="val 4000"/>
            </a:avLst>
          </a:prstGeom>
          <a:solidFill>
            <a:srgbClr val="0033A0"/>
          </a:solidFill>
          <a:ln/>
        </p:spPr>
      </p:sp>
      <p:sp>
        <p:nvSpPr>
          <p:cNvPr id="4" name="Text 2"/>
          <p:cNvSpPr/>
          <p:nvPr/>
        </p:nvSpPr>
        <p:spPr>
          <a:xfrm>
            <a:off x="1097280" y="13258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2E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PREGUNTA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1097280" y="1737360"/>
            <a:ext cx="99669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¿Cumple normativa peruana?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731520" y="3657600"/>
            <a:ext cx="10698480" cy="2651760"/>
          </a:xfrm>
          <a:prstGeom prst="roundRect">
            <a:avLst>
              <a:gd name="adj" fmla="val 3448"/>
            </a:avLst>
          </a:prstGeom>
          <a:solidFill>
            <a:srgbClr val="EAF2FB"/>
          </a:solidFill>
          <a:ln w="19050">
            <a:solidFill>
              <a:srgbClr val="2E8B5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97280" y="388620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DEBO RECORDAR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097280" y="4343400"/>
            <a:ext cx="996696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Sí. 5 GHz uso libre (MTC) · D.S. 024-2016-EM (control de ingeniería) · Ley 29733 (datos del vídeo).</a:t>
            </a:r>
            <a:endParaRPr lang="en-US" sz="2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424160" y="274320"/>
            <a:ext cx="1463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B6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Tarjeta 13 / 16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731520" y="1097280"/>
            <a:ext cx="10698480" cy="2286000"/>
          </a:xfrm>
          <a:prstGeom prst="roundRect">
            <a:avLst>
              <a:gd name="adj" fmla="val 4000"/>
            </a:avLst>
          </a:prstGeom>
          <a:solidFill>
            <a:srgbClr val="0033A0"/>
          </a:solidFill>
          <a:ln/>
        </p:spPr>
      </p:sp>
      <p:sp>
        <p:nvSpPr>
          <p:cNvPr id="4" name="Text 2"/>
          <p:cNvSpPr/>
          <p:nvPr/>
        </p:nvSpPr>
        <p:spPr>
          <a:xfrm>
            <a:off x="1097280" y="13258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2E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PREGUNTA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1097280" y="1737360"/>
            <a:ext cx="99669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¿Limitación: solo simulación?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731520" y="3657600"/>
            <a:ext cx="10698480" cy="2651760"/>
          </a:xfrm>
          <a:prstGeom prst="roundRect">
            <a:avLst>
              <a:gd name="adj" fmla="val 3448"/>
            </a:avLst>
          </a:prstGeom>
          <a:solidFill>
            <a:srgbClr val="EAF2FB"/>
          </a:solidFill>
          <a:ln w="19050">
            <a:solidFill>
              <a:srgbClr val="2E8B5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97280" y="388620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DEBO RECORDAR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097280" y="4343400"/>
            <a:ext cx="996696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Alcance DECLARADO: tesis de gabinete. Diseño trazable y reproducible, validado vs survey real. Campo = trabajo futuro. Honestidad = rigor.</a:t>
            </a:r>
            <a:endParaRPr lang="en-US" sz="2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424160" y="274320"/>
            <a:ext cx="1463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B6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Tarjeta 14 / 16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731520" y="1097280"/>
            <a:ext cx="10698480" cy="2286000"/>
          </a:xfrm>
          <a:prstGeom prst="roundRect">
            <a:avLst>
              <a:gd name="adj" fmla="val 4000"/>
            </a:avLst>
          </a:prstGeom>
          <a:solidFill>
            <a:srgbClr val="0033A0"/>
          </a:solidFill>
          <a:ln/>
        </p:spPr>
      </p:sp>
      <p:sp>
        <p:nvSpPr>
          <p:cNvPr id="4" name="Text 2"/>
          <p:cNvSpPr/>
          <p:nvPr/>
        </p:nvSpPr>
        <p:spPr>
          <a:xfrm>
            <a:off x="1097280" y="13258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2E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PREGUNTA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1097280" y="1737360"/>
            <a:ext cx="99669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¿Solo un LHD?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731520" y="3657600"/>
            <a:ext cx="10698480" cy="2651760"/>
          </a:xfrm>
          <a:prstGeom prst="roundRect">
            <a:avLst>
              <a:gd name="adj" fmla="val 3448"/>
            </a:avLst>
          </a:prstGeom>
          <a:solidFill>
            <a:srgbClr val="EAF2FB"/>
          </a:solidFill>
          <a:ln w="19050">
            <a:solidFill>
              <a:srgbClr val="2E8B5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97280" y="388620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DEBO RECORDAR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097280" y="4343400"/>
            <a:ext cx="996696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Sí, alcance definido desde Cap. 1. Arquitectura escalable; multi-vehículo exige recalcular capacidad/interferencia = trabajo futuro.</a:t>
            </a:r>
            <a:endParaRPr lang="en-US" sz="2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424160" y="274320"/>
            <a:ext cx="1463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B6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Tarjeta 15 / 16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731520" y="1097280"/>
            <a:ext cx="10698480" cy="2286000"/>
          </a:xfrm>
          <a:prstGeom prst="roundRect">
            <a:avLst>
              <a:gd name="adj" fmla="val 4000"/>
            </a:avLst>
          </a:prstGeom>
          <a:solidFill>
            <a:srgbClr val="0033A0"/>
          </a:solidFill>
          <a:ln/>
        </p:spPr>
      </p:sp>
      <p:sp>
        <p:nvSpPr>
          <p:cNvPr id="4" name="Text 2"/>
          <p:cNvSpPr/>
          <p:nvPr/>
        </p:nvSpPr>
        <p:spPr>
          <a:xfrm>
            <a:off x="1097280" y="13258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2E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PREGUNTA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1097280" y="1737360"/>
            <a:ext cx="99669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 rehicieras la tesis, ¿qué cambias?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731520" y="3657600"/>
            <a:ext cx="10698480" cy="2651760"/>
          </a:xfrm>
          <a:prstGeom prst="roundRect">
            <a:avLst>
              <a:gd name="adj" fmla="val 3448"/>
            </a:avLst>
          </a:prstGeom>
          <a:solidFill>
            <a:srgbClr val="EAF2FB"/>
          </a:solidFill>
          <a:ln w="19050">
            <a:solidFill>
              <a:srgbClr val="2E8B5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97280" y="388620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DEBO RECORDAR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097280" y="4343400"/>
            <a:ext cx="996696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Mediciones de campo propias + ray-tracing 3D para validación independiente + multi-vehículo. (= mis recomendaciones).</a:t>
            </a:r>
            <a:endParaRPr lang="en-US" sz="2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424160" y="274320"/>
            <a:ext cx="1463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B6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Tarjeta 16 / 16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731520" y="1097280"/>
            <a:ext cx="10698480" cy="2286000"/>
          </a:xfrm>
          <a:prstGeom prst="roundRect">
            <a:avLst>
              <a:gd name="adj" fmla="val 4000"/>
            </a:avLst>
          </a:prstGeom>
          <a:solidFill>
            <a:srgbClr val="0033A0"/>
          </a:solidFill>
          <a:ln/>
        </p:spPr>
      </p:sp>
      <p:sp>
        <p:nvSpPr>
          <p:cNvPr id="4" name="Text 2"/>
          <p:cNvSpPr/>
          <p:nvPr/>
        </p:nvSpPr>
        <p:spPr>
          <a:xfrm>
            <a:off x="1097280" y="13258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2E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PREGUNTA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1097280" y="1737360"/>
            <a:ext cx="99669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¿Por qué importa para el Perú?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731520" y="3657600"/>
            <a:ext cx="10698480" cy="2651760"/>
          </a:xfrm>
          <a:prstGeom prst="roundRect">
            <a:avLst>
              <a:gd name="adj" fmla="val 3448"/>
            </a:avLst>
          </a:prstGeom>
          <a:solidFill>
            <a:srgbClr val="EAF2FB"/>
          </a:solidFill>
          <a:ln w="19050">
            <a:solidFill>
              <a:srgbClr val="2E8B5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97280" y="388620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DEBO RECORDAR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097280" y="4343400"/>
            <a:ext cx="996696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Minería subterránea peruana: accidentes fatales cada año. Sacar al operador del riesgo = camino replicable y de bajo costo a minería más segura.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Pontificia Universidad Católica del Perú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Tarjetas de repaso — Sustentación de Tesis</dc:title>
  <dc:subject> Presentation</dc:subject>
  <dc:creator>Adrián Álvaro López Pascual</dc:creator>
  <cp:lastModifiedBy>Adrián Álvaro López Pascual</cp:lastModifiedBy>
  <cp:revision>1</cp:revision>
  <dcterms:created xsi:type="dcterms:W3CDTF">2026-07-15T03:14:06Z</dcterms:created>
  <dcterms:modified xsi:type="dcterms:W3CDTF">2026-07-15T03:14:06Z</dcterms:modified>
</cp:coreProperties>
</file>