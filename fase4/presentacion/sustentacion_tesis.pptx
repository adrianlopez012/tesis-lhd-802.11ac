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al jurado. Nombre completo, título de la tesis, asesor. 20 segundos, con calma. La imagen es el modelo 3D real del nivel NV1640 construido en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Descripción breve obligatoria: qué es y qué logra, sin entrar a detalles. 40 segundos. 'Esta tesis diseña y valida la red que permite sacar al operador del frente de riesgo sin detener la producción.'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Empezar con la historia personal (genuina, 45 s) — el vínculo con la minería y la seguridad del trabajador. Luego el dato duro de OSINERGMIN. Cerrar con la oportunidad técnica: 'la teleoperación existe; lo que falta demostrar es que la RED la sostiene en una mina real. Eso hice.'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Leer el objetivo general con énfasis en 'evidencia verificable'. Los 6 específicos en 20 segundos cada uno máximo, conectándolos: canal → arquitectura → radio → QoS → validación → idoneidad. Son la columna vertebral de los capítulos.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MINUTOS. MENCIONAR 'Design Thinking' explícitamente (rúbrica). Recorrer los 5 pasos con 30-40 s c/u anclando cada uno a lo que se hizo: empatizar (operador), definir (KPIs), idear (RSL Kitchenham + multicriterio), prototipar (NS-3 con geometría real), validar (TamoGraph + 10 semillas). Cerrar con el rigor estadístico: 'ningún número de esta tesis sale de una sola corrida'.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Inicio de los 7 minutos de resultados. Mostrar el plano real 15 s. REPRODUCIR EL VIDEO (clic) mientras se explica: 'el vehículo recorre el ciclo real de operación; arriba se ve el AP que lo sirve y su nivel de señal — datos de la simulación, no una caricatura'. Si el video no reproduce, seguir con la imagen sin perder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segundos. La arquitectura documentada: solo el ultimo tramo es inalambrico (LHD a AP); del AP en adelante todo va por cable — Cat 6 al switch de acceso y anillo de fibra al core. El ANILLO da redundancia: si se corta un lado, el trafico gira por el otro. Diseno alineado a la red documentada de la 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más importante: 60-90 segundos. Leer los tres primeros con sus requisitos ('3 milisegundos contra un límite de 20'). Insistir: son medias con intervalo de confianza sobre 10 semillas — no una corrida afortunada. Todos cumplen con MARGEN.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 la pregunta clásica del jurado ('¿y si pierde señal en la curva?'). La línea azul nunca baja de -72.1 dBm: margen de 9.9 dB. Explicar el roaming estable: make-before-break, igual que el equipo real. Traspaso peor caso 0.91 ms contra 150 permitidos.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Panel (a): la latencia de cada flujo con la dispersión de las 10 semillas — las cajas son diminutas: el resultado es estable, no una corrida afortunada. Comandos y telemetría ~3 ms, vídeo 36 ms. Panel (b): los 4 escenarios — bajo estrés de vídeo los comandos suben de 3.0 a 6.8 ms (×2.3) pero NUNCA se acercan al límite de 20: la clase AC_VO los protege. Pregunta anticipada '¿por qué la telemetría no tiene prioridad?': es tolerante al retardo (datos de estado); lo crítico es el mando. Y aun en AC_BE mide 3.08 ms — la prioridad es un seguro para cuando hay presión.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Este es el diferenciador técnico: no solo simulación de red — también la capa física del estándar (jerarquía de MCS correcta, constelación 256-QAM tras el canal) y los patrones reales de las antenas en la geometría de la mina. Mensaje: 'el análisis baja hasta el símbolo de modulación'.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segundos. Justificación de cada antena según datasheet Poynting: el Hawk lleva el PAR RCP-50 LHP + RHP (11 dBi, BIDIRECCIONAL, 'Mine/tunnel installations'): dos lóbulos que cubren la galería en AMBOS sentidos, y las dos polarizaciones circulares (izquierda y derecha) dan la diversidad para los 2 streams MIMO — por eso va en los TRAMOS LARGOS. El Cardinal usa la EPNT-7 omni para los cruceros. El LHD lleva la HELI-40 (4.8 dBic), también bidireccional — el vehículo avanza y retrocede. La polarización circular mitiga el multitrayecto de la roca. Patrones calculados por método de momentos; los bidireccionales sintetizados según especificación.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 — la slide que blinda el modelo ante el jurado. Justificación paso a paso: (1) construí la galería en 3D con propiedades de roca (permitividad 6, conductividad 0.01 S/m); (2) lancé ray-tracing SBR con hasta 6 reflexiones; (3) en campo cercano AMBOS métodos coinciden (error ~5 dB) — el modelo queda validado por un método independiente; (4) a larga distancia el ray-tracing pierde los rayos porque no modela el guiado de onda del túnel — limitación documentada en la literatura — lo que JUSTIFICA usar el two-slope calibrado con el survey real. Doble validación + honestidad metodológica.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Recorrer las 4 dimensiones. En económica ser honesto: 'la estructura de costos y los mecanismos de retorno están definidos; la cuantificación exacta requiere cotizaciones vigentes y es el paso siguiente con planeamiento de la mina'.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cierre vendedor que pide el profesor, desde la plataforma de éxito: 60 segundos. Frase central con pausa. Tres columnas: logro, aprendizaje, proyección. Terminar mirando al jurado: 'la tecnología ya existe; lo que esta tesis aporta es la evidencia de que funciona donde más se necesita'.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al jurado y al asesor. Respirar. Las preguntas se responden con la estructura: reconocer → responder con el dato → remitir a la evidencia (capítulo/anexo). Si no sé algo: reconocerlo y remitirlo a trabajo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tretch>
            <a:fillRect/>
          </a:stretch>
        </p:blipFill>
        <p:spPr>
          <a:xfrm>
            <a:off x="6492240" y="1463040"/>
            <a:ext cx="5120640" cy="393192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CATÓLICA DEL PERÚ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77240" y="10241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e Ingeniería · Ingeniería de las Telecomunicaciones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77240" y="1965960"/>
            <a:ext cx="5577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una red IEEE 802.11ac para la teleoperación de un vehículo LHD en la extracción de mineral en galerías subterráneas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77240" y="470916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Asesor: Dr. Pastor David Chávez Muñoz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5897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 · Trabajo de Tesis 2 ·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trata este trabajo?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escena_mina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5394960" cy="4023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9360" y="548640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producción NV1640 (Nexa Cerro Lindo): cobertura calculada, recorrido real del vehículo y patrón de la antena.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463040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60934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Teleoperar un cargador LHD desde superficie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60120" y="204825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sale de la zona de riesgo; el vehículo se conduce por vídeo en tiempo real, comandos y telemetría.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2944368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09067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red IEEE 802.11ac diseñada para la mina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60120" y="352958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puntos de acceso sobre un backbone de fibra, planificados sobre la geometría real de las galerías.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85800" y="4425696"/>
            <a:ext cx="5303520" cy="1298448"/>
          </a:xfrm>
          <a:prstGeom prst="roundRect">
            <a:avLst>
              <a:gd name="adj" fmla="val 211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45720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 por simulación con rigor estadístico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60120" y="501091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el trazado real: 18 ejecuciones, 10 semillas independientes, todos los KPIs se cumplen.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esta tesis?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5394960" cy="2286000"/>
          </a:xfrm>
          <a:prstGeom prst="roundRect">
            <a:avLst>
              <a:gd name="adj" fmla="val 12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62763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motivación con raíz personal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2048256"/>
            <a:ext cx="4892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Nací en una tierra donde la minería marca la vida de las familias. Crecí sabiendo lo que significa que alguien entre a una labor subterránea — y esta carrera me dio la forma de devolver algo: usar las telecomunicaciones para cuidar a esas personas.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3977640"/>
            <a:ext cx="5394960" cy="2286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09651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no se puede ignorar</a:t>
            </a:r>
            <a:endParaRPr lang="en-US" sz="1350" dirty="0"/>
          </a:p>
        </p:txBody>
      </p:sp>
      <p:pic>
        <p:nvPicPr>
          <p:cNvPr id="8" name="Image 0" descr="C:/Users/Adrian Lopez/Documents/tesis_proyecto/fase4/presentacion/osinergmin_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526280"/>
            <a:ext cx="5029200" cy="1463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59893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Accidentes y víctimas mortales por lugar, Perú 2024 — elaborado a partir de OSINERGMIN.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0" y="1463040"/>
            <a:ext cx="5074920" cy="4617720"/>
          </a:xfrm>
          <a:prstGeom prst="roundRect">
            <a:avLst>
              <a:gd name="adj" fmla="val 594"/>
            </a:avLst>
          </a:prstGeom>
          <a:solidFill>
            <a:srgbClr val="02174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2084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oportunidad de ingeniería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20840" y="2240280"/>
            <a:ext cx="44348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 a la persona del riesgo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detener la extracción: teleoperación.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eslabón crítico es la red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vídeo en tiempo real, comandos de baja latencia y telemetría continua dentro de galerías con curvas, polvo y roca.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tesis demuestra que ese eslabón es viable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estándar abierto y equipos industriales disponibles.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17320"/>
            <a:ext cx="10835640" cy="1143000"/>
          </a:xfrm>
          <a:prstGeom prst="roundRect">
            <a:avLst>
              <a:gd name="adj" fmla="val 2400"/>
            </a:avLst>
          </a:prstGeom>
          <a:solidFill>
            <a:srgbClr val="0033A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572768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red IEEE 802.11ac que soporte la teleoperación de un vehículo LHD en las galerías del nivel NV1640, cumpliendo requisitos de latencia, capacidad y disponibilidad con evidencia verificable.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718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971800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el canal de propagación en galerías (modelo two-slope calibrado)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288036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9718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160" y="2971800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arquitectura física y lógica (backbone óptico + malla de acceso)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3959352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050792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4050792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Dimensionar radio y antenas con equipos industriales reales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959352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4050792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95160" y="4050792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políticas de QoS y movilidad (WMM, roaming estable)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5038344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9784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5129784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desempeño extremo a extremo por simulación NS-3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5038344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5129784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95160" y="5129784"/>
            <a:ext cx="4389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idoneidad técnica, económica, regulatoria y ética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Design Thinking aplicado a ingeniería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Empatizar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13816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y su exposición al riesgo en el frente</a:t>
            </a:r>
            <a:endParaRPr lang="en-US" sz="1030" dirty="0"/>
          </a:p>
        </p:txBody>
      </p:sp>
      <p:sp>
        <p:nvSpPr>
          <p:cNvPr id="7" name="Text 5"/>
          <p:cNvSpPr/>
          <p:nvPr/>
        </p:nvSpPr>
        <p:spPr>
          <a:xfrm>
            <a:off x="2697480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44368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4368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944368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072384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KPIs medibles por flujo (vídeo, mando, telemetría)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4956048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202936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02936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202936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330952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multicriterio de tecnologías (RSL método Kitchenham)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7214616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7461504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61504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461504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589520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la geometría real + MATLAB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9473184" y="228600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6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20072" y="1554480"/>
            <a:ext cx="2075688" cy="2377440"/>
          </a:xfrm>
          <a:prstGeom prst="roundRect">
            <a:avLst>
              <a:gd name="adj" fmla="val 1322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20072" y="1755648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720072" y="2395728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848088" y="2798064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con site survey TamoGraph + batería multi-semilla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685800" y="4343400"/>
            <a:ext cx="5349240" cy="1783080"/>
          </a:xfrm>
          <a:prstGeom prst="roundRect">
            <a:avLst>
              <a:gd name="adj" fmla="val 1538"/>
            </a:avLst>
          </a:prstGeom>
          <a:solidFill>
            <a:srgbClr val="021740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" y="4919472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NS-3.40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simulación de red a nivel de paquetes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R2024b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modelamiento del canal, antenas y entorno 3D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TamoGraph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site survey real de contraste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fuente única de parámetros y trazabilidad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55080" y="4343400"/>
            <a:ext cx="5120640" cy="1783080"/>
          </a:xfrm>
          <a:prstGeom prst="roundRect">
            <a:avLst>
              <a:gd name="adj" fmla="val 15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de la validación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29400" y="4919472"/>
            <a:ext cx="4617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de 300 s  ·  10 semillas independientes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como media ± intervalo de confianza al 95 %. Escenarios de operación, referencia, estrés y traspaso.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vive en la geometría real de la mina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plano_nv1640_p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54864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56235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del nivel NV1640 (block caving tipo El Teniente): galerías, cruceros, drawpoints y los 12 AP.</a:t>
            </a:r>
            <a:endParaRPr lang="en-US" sz="11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537960" y="1463040"/>
            <a:ext cx="4937760" cy="2788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37960" y="4343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Video: recorrido del LHD teleoperado — animación 3D con datos reales de la simulación (AP servidor y RSSI en vivo)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537960" y="5029200"/>
            <a:ext cx="4937760" cy="1051560"/>
          </a:xfrm>
          <a:prstGeom prst="roundRect">
            <a:avLst>
              <a:gd name="adj" fmla="val 2609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766560" y="5138928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señal no atraviesa la roca.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respeta la física del túnel: la cobertura viaja por las labores abiertas, con penalización por cada galería cruzada.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la solución: anillo de fibra y malla de acceso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arquitectura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749808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463040"/>
            <a:ext cx="2926080" cy="4480560"/>
          </a:xfrm>
          <a:prstGeom prst="roundRect">
            <a:avLst>
              <a:gd name="adj" fmla="val 9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823960" y="1691640"/>
            <a:ext cx="2514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estación de teleoperación, controlador y gateway de malla.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anillo de fibra óptica monomodo de 1 Gbps con switches de acceso — redundancia ante cortes.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AP (5 Hawk en tramos largos + 7 Cardinal en cruceros) conectados por Cat 6; el LHD embarca radio y antena HELI-40.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todos los KPIs se cumplen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26187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· 10 semillas independientes · media ± intervalo de confianza al 95 %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3.04 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OWD comandos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20 ms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70832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vídeo E2E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70832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150 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55864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ms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055864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 P95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55864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10 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40.1 Mbps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85800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vídeo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38 Mbps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70832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0.06 %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370832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PLR comandos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70832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0.5 %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55864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055864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55864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99.9 %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cubre todo el recorrido del vehículo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grafico_rssi_asoci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94944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1508760"/>
            <a:ext cx="3611880" cy="1828800"/>
          </a:xfrm>
          <a:prstGeom prst="roundRect">
            <a:avLst>
              <a:gd name="adj" fmla="val 1500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863840" y="169164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−72.1 dBm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001000" y="2487168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nivel de señal del enlace en todo el ciclo (9.9 dB sobre el umbral usable)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863840" y="3520440"/>
            <a:ext cx="3611880" cy="2148840"/>
          </a:xfrm>
          <a:prstGeom prst="roundRect">
            <a:avLst>
              <a:gd name="adj" fmla="val 127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92440" y="37033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Roaming estable por diseño.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vehículo no persigue al AP más cercano (evita micro-cortes): mantiene un enlace tipo make-before-break, como la malla industrial real. Cuando el traspaso ocurre, dura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57607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del enlace asociado durante el recorrido — 10 semillas.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prioridad WMM protege lo crítico — con 10 semillas de evidencia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wmm_semil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9235440" cy="4389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921240" y="1600200"/>
            <a:ext cx="1783080" cy="4389120"/>
          </a:xfrm>
          <a:prstGeom prst="roundRect">
            <a:avLst>
              <a:gd name="adj" fmla="val 1538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58400" y="1783080"/>
            <a:ext cx="1536192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lectura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diminutas = resultados estables entre semillas.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estrés, los comandos suben a 6.8 ms — lejos del límite de 20.
</a:t>
            </a:r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presión va a la latencia, nunca a las pérdidas.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estándar físico a la antena: profundidad del análisis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wlan_802_11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667512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física 802.11ac real (WLAN Toolbox): PER vs SNR por esquema de modulación y constelación 256-QAM ecualizada tras el canal.</a:t>
            </a:r>
            <a:endParaRPr lang="en-US" sz="1100" dirty="0"/>
          </a:p>
        </p:txBody>
      </p:sp>
      <p:pic>
        <p:nvPicPr>
          <p:cNvPr id="5" name="Image 1" descr="C:/Users/Adrian Lopez/Documents/tesis_proyecto/fase4/presentacion/patron_antenas_3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3886200" cy="2834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35240" y="4434840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AP irradiando con sus patrones reales (Antenna Toolbox) sobre la geometría de la mina.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5166360"/>
            <a:ext cx="1078992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14400" y="5285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validación: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canal calibrado con site survey real (TamoGraph) · simulación de red completa (NS-3) · capa física del estándar y patrones de antena (MATLAB). Cada decisión del diseño es trazable a evidencia.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antenas del diseño y sus patrones 3D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patron3d_haw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3794760" cy="3063240"/>
          </a:xfrm>
          <a:prstGeom prst="rect">
            <a:avLst/>
          </a:prstGeom>
        </p:spPr>
      </p:pic>
      <p:pic>
        <p:nvPicPr>
          <p:cNvPr id="4" name="Image 1" descr="C:/Users/Adrian Lopez/Documents/tesis_proyecto/fase4/presentacion/patron3d_card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554480"/>
            <a:ext cx="3794760" cy="3063240"/>
          </a:xfrm>
          <a:prstGeom prst="rect">
            <a:avLst/>
          </a:prstGeom>
        </p:spPr>
      </p:pic>
      <p:pic>
        <p:nvPicPr>
          <p:cNvPr id="5" name="Image 2" descr="C:/Users/Adrian Lopez/Documents/tesis_proyecto/fase4/presentacion/patron3d_lh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554480"/>
            <a:ext cx="3337560" cy="306324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502920" y="4709160"/>
            <a:ext cx="37947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68580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 — RCP-50 LHP/RHP (par)</a:t>
            </a:r>
            <a:endParaRPr lang="en-US" sz="1250" dirty="0"/>
          </a:p>
        </p:txBody>
      </p:sp>
      <p:sp>
        <p:nvSpPr>
          <p:cNvPr id="8" name="Text 3"/>
          <p:cNvSpPr/>
          <p:nvPr/>
        </p:nvSpPr>
        <p:spPr>
          <a:xfrm>
            <a:off x="68580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dBi · BIDIRECCIONAL: dos lóbulos a lo largo de la galería · pol. circular izq./der. (diversidad MIMO) · tramos largos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434840" y="4709160"/>
            <a:ext cx="37947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461772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 — EPNT-7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461772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dBi · omnidireccional (la “dona” es su patrón real) · cruceros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8366760" y="4709160"/>
            <a:ext cx="3337560" cy="960120"/>
          </a:xfrm>
          <a:prstGeom prst="roundRect">
            <a:avLst>
              <a:gd name="adj" fmla="val 285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549640" y="48006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LHD — HELI-40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8549640" y="5120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 dBic · pol. circular · BIDIRECCIONAL: dos lóbulos por el túnel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de directividad calculados por método de momentos (Antenna Toolbox, 5 GHz); los bidireccionales (RCP-50 y HELI-40) sintetizados según la especificación de sus datasheets Poynting.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cruzada del modelo de canal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raytracing_valid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731520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0" y="1508760"/>
            <a:ext cx="3246120" cy="2057400"/>
          </a:xfrm>
          <a:prstGeom prst="roundRect">
            <a:avLst>
              <a:gd name="adj" fmla="val 1333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412480" y="166420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concordancia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412480" y="2048256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campo cercano, el ray-tracing 3D (SBR, roca εr=6, σ=0.01 S/m) coincide con el modelo two-slope: error medio ≈ 5 dB.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229600" y="3749040"/>
            <a:ext cx="3246120" cy="2148840"/>
          </a:xfrm>
          <a:prstGeom prst="roundRect">
            <a:avLst>
              <a:gd name="adj" fmla="val 127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0" y="390448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donde divergen…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0" y="4288536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…el ray-tracing SUBESTIMA el alcance: no captura el modo guía de onda del túnel (Sun &amp; Akyildiz). Justo por eso el diseño usa el two-slope calibrado con el site survey.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85800" y="5806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two-slope vs ray-tracing SBR sobre la geometría 3D de la galería (MATLAB).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solución idónea en todas sus dimensiones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técnica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60120" y="193852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KPIs cumplen con margen y respaldo estadístico de 10 semillas.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685800" y="2633472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743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económica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10896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incremental sobre la infraestructura existente; despliegue gradual por frentes.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85800" y="3803904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9136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Idoneidad regulatoria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0120" y="4279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5 GHz de uso libre (MTC); alineada al reglamento de seguridad minera (D.S. 024-2016-EM).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85800" y="4974336"/>
            <a:ext cx="5577840" cy="1005840"/>
          </a:xfrm>
          <a:prstGeom prst="roundRect">
            <a:avLst>
              <a:gd name="adj" fmla="val 2727"/>
            </a:avLst>
          </a:prstGeom>
          <a:solidFill>
            <a:srgbClr val="EAF2FB"/>
          </a:solidFill>
          <a:ln w="9525">
            <a:solidFill>
              <a:srgbClr val="C7D3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08406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ética y social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60120" y="544982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 al trabajador de la zona de riesgo; gestión responsable del cambio con el personal.</a:t>
            </a:r>
            <a:endParaRPr lang="en-US" sz="1080" dirty="0"/>
          </a:p>
        </p:txBody>
      </p:sp>
      <p:pic>
        <p:nvPicPr>
          <p:cNvPr id="15" name="Image 0" descr="C:/Users/Adrian Lopez/Documents/tesis_proyecto/fase4/presentacion/fig_capex_o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554480"/>
            <a:ext cx="4892040" cy="39776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629400" y="55778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económica: inversión, operación y mecanismos de retorno.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final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188720" y="1554480"/>
            <a:ext cx="9829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Diseñé una red que puede sacar a una persona de la zona de peligro dentro de una mina.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188720" y="3154680"/>
            <a:ext cx="9829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demostré, con evidencia reproducible, que es viable.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logré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validada sobre la geometría real, con todos los KPIs cumplidos y trazabilidad completa de cada número.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integrar propagación, redes y análisis de idoneidad — y a defender cada decisión con datos, no con opiniones.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24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camino replicable hacia una minería peruana más segura — y la base de un artículo de investigación.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315200" y="3291840"/>
            <a:ext cx="4873752" cy="356616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804672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04672" y="6035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 · Ingeniería de las Telecomunicaciones · PUCP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Pontificia Universidad Católica del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Sustentación de Tesis — Red IEEE 802.11ac para teleoperación de LHD</dc:title>
  <dc:subject>Trabajo de Tesis 2</dc:subject>
  <dc:creator>Adrián Álvaro López Pascual</dc:creator>
  <cp:lastModifiedBy>Adrián Álvaro López Pascual</cp:lastModifiedBy>
  <cp:revision>1</cp:revision>
  <dcterms:created xsi:type="dcterms:W3CDTF">2026-07-17T04:32:34Z</dcterms:created>
  <dcterms:modified xsi:type="dcterms:W3CDTF">2026-07-17T04:32:34Z</dcterms:modified>
</cp:coreProperties>
</file>