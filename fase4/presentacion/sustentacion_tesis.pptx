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Saludo al jurado. Nombre completo, título de la tesis, asesor. 20 segundos, con calma. La imagen es el modelo 3D real del nivel NV1640 construido en MATLAB.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Descripción breve obligatoria: qué es y qué logra, sin entrar a detalles. 40 segundos. 'Esta tesis diseña y valida la red que permite sacar al operador del frente de riesgo sin detener la producción.'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MINUTOS. Empezar con la historia personal (genuina, 45 s) — el vínculo con la minería y la seguridad del trabajador. Luego el dato duro de OSINERGMIN. Cerrar con la oportunidad técnica: 'la teleoperación existe; lo que falta demostrar es que la RED la sostiene en una mina real. Eso hice.'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MINUTOS. Leer el objetivo general con énfasis en 'evidencia verificable'. Los 6 específicos en 20 segundos cada uno máximo, conectándolos: canal → arquitectura → radio → QoS → validación → idoneidad. Son la columna vertebral de los capítulos.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MINUTOS. MENCIONAR 'Design Thinking' explícitamente (rúbrica). Recorrer los 5 pasos con 30-40 s c/u anclando cada uno a lo que se hizo: empatizar (operador), definir (KPIs), idear (RSL Kitchenham + multicriterio), prototipar (NS-3 con geometría real), validar (TamoGraph + 10 semillas). Cerrar con el rigor estadístico: 'ningún número de esta tesis sale de una sola corrida'.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Inicio de los 7 minutos de resultados. Mostrar el plano real 15 s. REPRODUCIR EL VIDEO (clic) mientras se explica: 'el vehículo recorre el ciclo real de operación; arriba se ve el AP que lo sirve y su nivel de señal — datos de la simulación, no una caricatura'. Si el video no reproduce, seguir con la imagen sin perder ritmo.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slide más importante: 60-90 segundos. Leer los tres primeros con sus requisitos ('3 milisegundos contra un límite de 20'). Insistir: son medias con intervalo de confianza sobre 10 semillas — no una corrida afortunada. Todos cumplen con MARGEN.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Anticipa la pregunta clásica del jurado ('¿y si pierde señal en la curva?'). La línea azul nunca baja de -72.1 dBm: margen de 9.9 dB. Explicar el roaming estable: make-before-break, igual que el equipo real. Traspaso peor caso 0.91 ms contra 150 permitidos.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 segundos. Panel (a): la latencia de cada flujo con la dispersión de las 10 semillas — las cajas son diminutas: el resultado es estable, no una corrida afortunada. Comandos y telemetría ~3 ms, vídeo 36 ms. Panel (b): los 4 escenarios — bajo estrés de vídeo los comandos suben de 3.0 a 6.8 ms (×2.3) pero NUNCA se acercan al límite de 20: la clase AC_VO los protege. Pregunta anticipada '¿por qué la telemetría no tiene prioridad?': es tolerante al retardo (datos de estado); lo crítico es el mando. Y aun en AC_BE mide 3.08 ms — la prioridad es un seguro para cuando hay presión.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 segundos. Este es el diferenciador técnico: no solo simulación de red — también la capa física del estándar (jerarquía de MCS correcta, constelación 256-QAM tras el canal) y los patrones reales de las antenas en la geometría de la mina. Mensaje: 'el análisis baja hasta el símbolo de modulación'.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 segundos. Justificación de cada antena según datasheet Poynting: el Hawk lleva el PAR RCP-50 LHP + RHP (11 dBi, BIDIRECCIONAL, 'Mine/tunnel installations'): dos lóbulos que cubren la galería en AMBOS sentidos, y las dos polarizaciones circulares (izquierda y derecha) dan la diversidad para los 2 streams MIMO — por eso va en los TRAMOS LARGOS. El Cardinal usa la EPNT-7 omni para los cruceros. El LHD lleva la HELI-40 (4.8 dBic), también bidireccional — el vehículo avanza y retrocede. La polarización circular mitiga el multitrayecto de la roca. Patrones calculados por método de momentos; los bidireccionales sintetizados según especificación.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 segundos — la slide que blinda el modelo ante el jurado. Justificación paso a paso: (1) construí la galería en 3D con propiedades de roca (permitividad 6, conductividad 0.01 S/m); (2) lancé ray-tracing SBR con hasta 6 reflexiones; (3) en campo cercano AMBOS métodos coinciden (error ~5 dB) — el modelo queda validado por un método independiente; (4) a larga distancia el ray-tracing pierde los rayos porque no modela el guiado de onda del túnel — limitación documentada en la literatura — lo que JUSTIFICA usar el two-slope calibrado con el survey real. Doble validación + honestidad metodológica.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 segundos. Recorrer las 4 dimensiones. En económica ser honesto: 'la estructura de costos y los mecanismos de retorno están definidos; la cuantificación exacta requiere cotizaciones vigentes y es el paso siguiente con planeamiento de la mina'.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cierre vendedor que pide el profesor, desde la plataforma de éxito: 60 segundos. Frase central con pausa. Tres columnas: logro, aprendizaje, proyección. Terminar mirando al jurado: 'la tecnología ya existe; lo que esta tesis aporta es la evidencia de que funciona donde más se necesita'.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Agradecer al jurado y al asesor. Respirar. Las preguntas se responden con la estructura: reconocer → responder con el dato → remitir a la evidencia (capítulo/anexo). Si no sé algo: reconocerlo y remitirlo a trabajo futuro.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B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B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video" Target="../media/media-6-2.mp4"/><Relationship Id="rId3" Type="http://schemas.microsoft.com/office/2007/relationships/media" Target="../media/media-6-2.mp4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17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Adrian Lopez/Documents/tesis_proyecto/fase4/presentacion/mina_realista_3d.png">    </p:cNvPr>
          <p:cNvPicPr>
            <a:picLocks noChangeAspect="1"/>
          </p:cNvPicPr>
          <p:nvPr/>
        </p:nvPicPr>
        <p:blipFill>
          <a:blip r:embed="rId1">
            <a:alphaModFix amt="82000"/>
          </a:blip>
          <a:stretch>
            <a:fillRect/>
          </a:stretch>
        </p:blipFill>
        <p:spPr>
          <a:xfrm>
            <a:off x="6492240" y="1463040"/>
            <a:ext cx="5120640" cy="3931920"/>
          </a:xfrm>
          <a:prstGeom prst="ellipse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6400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PONTIFICIA UNIVERSIDAD CATÓLICA DEL PERÚ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777240" y="1024128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C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Facultad de Ciencias e Ingeniería · Ingeniería de las Telecomunicaciones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77240" y="1965960"/>
            <a:ext cx="55778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Diseño de una red IEEE 802.11ac para la teleoperación de un vehículo LHD en la extracción de mineral en galerías subterráneas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777240" y="4709160"/>
            <a:ext cx="5486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Adrián Álvaro López Pascual
</a:t>
            </a:r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B9C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Asesor: Dr. Pastor David Chávez Muñoz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777240" y="58978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Sustentación · Trabajo de Tesis 2 · 2026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B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¿De qué trata este trabajo?</a:t>
            </a:r>
            <a:endParaRPr lang="en-US" sz="3400" dirty="0"/>
          </a:p>
        </p:txBody>
      </p:sp>
      <p:pic>
        <p:nvPicPr>
          <p:cNvPr id="3" name="Image 0" descr="C:/Users/Adrian Lopez/Documents/tesis_proyecto/fase4/presentacion/escena_mina_3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1371600"/>
            <a:ext cx="5394960" cy="40233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309360" y="5486400"/>
            <a:ext cx="5394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Zona de producción NV1640 (Nexa Cerro Lindo): cobertura calculada, recorrido real del vehículo y patrón de la antena.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685800" y="1463040"/>
            <a:ext cx="5303520" cy="1298448"/>
          </a:xfrm>
          <a:prstGeom prst="roundRect">
            <a:avLst>
              <a:gd name="adj" fmla="val 2113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60120" y="1609344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Teleoperar un cargador LHD desde superficie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960120" y="2048256"/>
            <a:ext cx="4800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operador sale de la zona de riesgo; el vehículo se conduce por vídeo en tiempo real, comandos y telemetría.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85800" y="2944368"/>
            <a:ext cx="5303520" cy="1298448"/>
          </a:xfrm>
          <a:prstGeom prst="roundRect">
            <a:avLst>
              <a:gd name="adj" fmla="val 2113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3090672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una red IEEE 802.11ac diseñada para la mina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960120" y="3529584"/>
            <a:ext cx="4800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puntos de acceso sobre un backbone de fibra, planificados sobre la geometría real de las galerías.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85800" y="4425696"/>
            <a:ext cx="5303520" cy="1298448"/>
          </a:xfrm>
          <a:prstGeom prst="roundRect">
            <a:avLst>
              <a:gd name="adj" fmla="val 2113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60120" y="4572000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Validada por simulación con rigor estadístico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960120" y="5010912"/>
            <a:ext cx="4800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NS-3 sobre el trazado real: 18 ejecuciones, 10 semillas independientes, todos los KPIs se cumplen.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B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¿Por qué esta tesis?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85800" y="1463040"/>
            <a:ext cx="5394960" cy="2286000"/>
          </a:xfrm>
          <a:prstGeom prst="roundRect">
            <a:avLst>
              <a:gd name="adj" fmla="val 1200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60120" y="1627632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motivación con raíz personal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60120" y="2048256"/>
            <a:ext cx="48920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i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Nací en una tierra donde la minería marca la vida de las familias. Crecí sabiendo lo que significa que alguien entre a una labor subterránea — y esta carrera me dio la forma de devolver algo: usar las telecomunicaciones para cuidar a esas personas.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3977640"/>
            <a:ext cx="5394960" cy="228600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4096512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dato que no se puede ignorar</a:t>
            </a:r>
            <a:endParaRPr lang="en-US" sz="1350" dirty="0"/>
          </a:p>
        </p:txBody>
      </p:sp>
      <p:pic>
        <p:nvPicPr>
          <p:cNvPr id="8" name="Image 0" descr="C:/Users/Adrian Lopez/Documents/tesis_proyecto/fase4/presentacion/osinergmin_202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4526280"/>
            <a:ext cx="5029200" cy="14630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68680" y="59893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Accidentes y víctimas mortales por lugar, Perú 2024 — elaborado a partir de OSINERGMIN.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6400800" y="1463040"/>
            <a:ext cx="5074920" cy="4617720"/>
          </a:xfrm>
          <a:prstGeom prst="roundRect">
            <a:avLst>
              <a:gd name="adj" fmla="val 594"/>
            </a:avLst>
          </a:prstGeom>
          <a:solidFill>
            <a:srgbClr val="021740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720840" y="169164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oportunidad de ingeniería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720840" y="2240280"/>
            <a:ext cx="443484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Retirar a la persona del riesgo </a:t>
            </a:r>
            <a:pPr indent="0" marL="0">
              <a:lnSpc>
                <a:spcPct val="114000"/>
              </a:lnSpc>
              <a:buNone/>
            </a:pPr>
            <a:r>
              <a:rPr lang="en-US" sz="140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detener la extracción: teleoperación.
</a:t>
            </a:r>
            <a:pPr indent="0" marL="0">
              <a:lnSpc>
                <a:spcPct val="114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eslabón crítico es la red</a:t>
            </a:r>
            <a:pPr indent="0" marL="0">
              <a:lnSpc>
                <a:spcPct val="114000"/>
              </a:lnSpc>
              <a:buNone/>
            </a:pPr>
            <a:r>
              <a:rPr lang="en-US" sz="140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vídeo en tiempo real, comandos de baja latencia y telemetría continua dentro de galerías con curvas, polvo y roca.
</a:t>
            </a:r>
            <a:pPr indent="0" marL="0">
              <a:lnSpc>
                <a:spcPct val="114000"/>
              </a:lnSpc>
              <a:buNone/>
            </a:pPr>
            <a:r>
              <a:rPr lang="en-US" sz="14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 tesis demuestra que ese eslabón es viable </a:t>
            </a:r>
            <a:pPr indent="0" marL="0">
              <a:lnSpc>
                <a:spcPct val="114000"/>
              </a:lnSpc>
              <a:buNone/>
            </a:pPr>
            <a:r>
              <a:rPr lang="en-US" sz="140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un estándar abierto y equipos industriales disponibles.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B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85800" y="1417320"/>
            <a:ext cx="10835640" cy="1143000"/>
          </a:xfrm>
          <a:prstGeom prst="roundRect">
            <a:avLst>
              <a:gd name="adj" fmla="val 2400"/>
            </a:avLst>
          </a:prstGeom>
          <a:solidFill>
            <a:srgbClr val="0033A0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60120" y="1572768"/>
            <a:ext cx="10287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general:  </a:t>
            </a:r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 una red IEEE 802.11ac que soporte la teleoperación de un vehículo LHD en las galerías del nivel NV1640, cumpliendo requisitos de latencia, capacidad y disponibilidad con evidencia verificable.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2880360"/>
            <a:ext cx="5303520" cy="914400"/>
          </a:xfrm>
          <a:prstGeom prst="roundRect">
            <a:avLst>
              <a:gd name="adj" fmla="val 3000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97180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463040" y="2971800"/>
            <a:ext cx="43891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Caracterizar el canal de propagación en galerías (modelo two-slope calibrado)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17920" y="2880360"/>
            <a:ext cx="5303520" cy="914400"/>
          </a:xfrm>
          <a:prstGeom prst="roundRect">
            <a:avLst>
              <a:gd name="adj" fmla="val 3000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46520" y="297180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995160" y="2971800"/>
            <a:ext cx="43891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 la arquitectura física y lógica (backbone óptico + malla de acceso)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85800" y="3959352"/>
            <a:ext cx="5303520" cy="914400"/>
          </a:xfrm>
          <a:prstGeom prst="roundRect">
            <a:avLst>
              <a:gd name="adj" fmla="val 3000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4050792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463040" y="4050792"/>
            <a:ext cx="43891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Dimensionar radio y antenas con equipos industriales reales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217920" y="3959352"/>
            <a:ext cx="5303520" cy="914400"/>
          </a:xfrm>
          <a:prstGeom prst="roundRect">
            <a:avLst>
              <a:gd name="adj" fmla="val 3000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46520" y="4050792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995160" y="4050792"/>
            <a:ext cx="43891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políticas de QoS y movilidad (WMM, roaming estable)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85800" y="5038344"/>
            <a:ext cx="5303520" cy="914400"/>
          </a:xfrm>
          <a:prstGeom prst="roundRect">
            <a:avLst>
              <a:gd name="adj" fmla="val 3000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5129784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463040" y="5129784"/>
            <a:ext cx="43891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el desempeño extremo a extremo por simulación NS-3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217920" y="5038344"/>
            <a:ext cx="5303520" cy="914400"/>
          </a:xfrm>
          <a:prstGeom prst="roundRect">
            <a:avLst>
              <a:gd name="adj" fmla="val 3000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46520" y="5129784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995160" y="5129784"/>
            <a:ext cx="43891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Evaluar idoneidad técnica, económica, regulatoria y ética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B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Metodología: Design Thinking aplicado a ingeniería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85800" y="1554480"/>
            <a:ext cx="2075688" cy="2377440"/>
          </a:xfrm>
          <a:prstGeom prst="roundRect">
            <a:avLst>
              <a:gd name="adj" fmla="val 1322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755648"/>
            <a:ext cx="20756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AA0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85800" y="2395728"/>
            <a:ext cx="20756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Empatizar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813816" y="2798064"/>
            <a:ext cx="18288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03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operador y su exposición al riesgo en el frente</a:t>
            </a:r>
            <a:endParaRPr lang="en-US" sz="1030" dirty="0"/>
          </a:p>
        </p:txBody>
      </p:sp>
      <p:sp>
        <p:nvSpPr>
          <p:cNvPr id="7" name="Text 5"/>
          <p:cNvSpPr/>
          <p:nvPr/>
        </p:nvSpPr>
        <p:spPr>
          <a:xfrm>
            <a:off x="2697480" y="2286000"/>
            <a:ext cx="3108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B66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›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2944368" y="1554480"/>
            <a:ext cx="2075688" cy="2377440"/>
          </a:xfrm>
          <a:prstGeom prst="roundRect">
            <a:avLst>
              <a:gd name="adj" fmla="val 1322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44368" y="1755648"/>
            <a:ext cx="20756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AA0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2944368" y="2395728"/>
            <a:ext cx="20756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3072384" y="2798064"/>
            <a:ext cx="18288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03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y KPIs medibles por flujo (vídeo, mando, telemetría)</a:t>
            </a:r>
            <a:endParaRPr lang="en-US" sz="1030" dirty="0"/>
          </a:p>
        </p:txBody>
      </p:sp>
      <p:sp>
        <p:nvSpPr>
          <p:cNvPr id="12" name="Text 10"/>
          <p:cNvSpPr/>
          <p:nvPr/>
        </p:nvSpPr>
        <p:spPr>
          <a:xfrm>
            <a:off x="4956048" y="2286000"/>
            <a:ext cx="3108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B66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›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202936" y="1554480"/>
            <a:ext cx="2075688" cy="2377440"/>
          </a:xfrm>
          <a:prstGeom prst="roundRect">
            <a:avLst>
              <a:gd name="adj" fmla="val 1322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02936" y="1755648"/>
            <a:ext cx="20756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AA0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5202936" y="2395728"/>
            <a:ext cx="20756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Idear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330952" y="2798064"/>
            <a:ext cx="18288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03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Comparación multicriterio de tecnologías (RSL método Kitchenham)</a:t>
            </a:r>
            <a:endParaRPr lang="en-US" sz="1030" dirty="0"/>
          </a:p>
        </p:txBody>
      </p:sp>
      <p:sp>
        <p:nvSpPr>
          <p:cNvPr id="17" name="Text 15"/>
          <p:cNvSpPr/>
          <p:nvPr/>
        </p:nvSpPr>
        <p:spPr>
          <a:xfrm>
            <a:off x="7214616" y="2286000"/>
            <a:ext cx="3108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B66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›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7461504" y="1554480"/>
            <a:ext cx="2075688" cy="2377440"/>
          </a:xfrm>
          <a:prstGeom prst="roundRect">
            <a:avLst>
              <a:gd name="adj" fmla="val 1322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61504" y="1755648"/>
            <a:ext cx="20756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AA0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7461504" y="2395728"/>
            <a:ext cx="20756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Prototipar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7589520" y="2798064"/>
            <a:ext cx="18288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03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NS-3 sobre la geometría real + MATLAB</a:t>
            </a:r>
            <a:endParaRPr lang="en-US" sz="1030" dirty="0"/>
          </a:p>
        </p:txBody>
      </p:sp>
      <p:sp>
        <p:nvSpPr>
          <p:cNvPr id="22" name="Text 20"/>
          <p:cNvSpPr/>
          <p:nvPr/>
        </p:nvSpPr>
        <p:spPr>
          <a:xfrm>
            <a:off x="9473184" y="2286000"/>
            <a:ext cx="3108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B66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›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9720072" y="1554480"/>
            <a:ext cx="2075688" cy="2377440"/>
          </a:xfrm>
          <a:prstGeom prst="roundRect">
            <a:avLst>
              <a:gd name="adj" fmla="val 1322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720072" y="1755648"/>
            <a:ext cx="20756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AA0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9720072" y="2395728"/>
            <a:ext cx="20756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9848088" y="2798064"/>
            <a:ext cx="18288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03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Contraste con site survey TamoGraph + batería multi-semilla</a:t>
            </a:r>
            <a:endParaRPr lang="en-US" sz="1030" dirty="0"/>
          </a:p>
        </p:txBody>
      </p:sp>
      <p:sp>
        <p:nvSpPr>
          <p:cNvPr id="27" name="Shape 25"/>
          <p:cNvSpPr/>
          <p:nvPr/>
        </p:nvSpPr>
        <p:spPr>
          <a:xfrm>
            <a:off x="685800" y="4343400"/>
            <a:ext cx="5349240" cy="1783080"/>
          </a:xfrm>
          <a:prstGeom prst="roundRect">
            <a:avLst>
              <a:gd name="adj" fmla="val 1538"/>
            </a:avLst>
          </a:prstGeom>
          <a:solidFill>
            <a:srgbClr val="021740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60120" y="45262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960120" y="4919472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NS-3.40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simulación de red a nivel de paquetes  ·  </a:t>
            </a:r>
            <a:pPr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MATLAB R2024b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modelamiento del canal, antenas y entorno 3D  ·  </a:t>
            </a:r>
            <a:pPr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TamoGraph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site survey real de contraste  ·  </a:t>
            </a:r>
            <a:pPr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fuente única de parámetros y trazabilidad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355080" y="4343400"/>
            <a:ext cx="5120640" cy="1783080"/>
          </a:xfrm>
          <a:prstGeom prst="roundRect">
            <a:avLst>
              <a:gd name="adj" fmla="val 1538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29400" y="45262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Rigor de la validación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629400" y="4919472"/>
            <a:ext cx="4617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ejecuciones de 300 s  ·  10 semillas independientes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como media ± intervalo de confianza al 95 %. Escenarios de operación, referencia, estrés y traspaso.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B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diseño vive en la geometría real de la mina</a:t>
            </a:r>
            <a:endParaRPr lang="en-US" sz="3400" dirty="0"/>
          </a:p>
        </p:txBody>
      </p:sp>
      <p:pic>
        <p:nvPicPr>
          <p:cNvPr id="3" name="Image 0" descr="C:/Users/Adrian Lopez/Documents/tesis_proyecto/fase4/presentacion/plano_nv1640_p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463040"/>
            <a:ext cx="5486400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562356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del nivel NV1640 (block caving tipo El Teniente): galerías, cruceros, drawpoints y los 12 AP.</a:t>
            </a:r>
            <a:endParaRPr lang="en-US" sz="1100" dirty="0"/>
          </a:p>
        </p:txBody>
      </p:sp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537960" y="1463040"/>
            <a:ext cx="4937760" cy="27889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537960" y="434340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Video: recorrido del LHD teleoperado — animación 3D con datos reales de la simulación (AP servidor y RSSI en vivo)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6537960" y="5029200"/>
            <a:ext cx="4937760" cy="1051560"/>
          </a:xfrm>
          <a:prstGeom prst="roundRect">
            <a:avLst>
              <a:gd name="adj" fmla="val 2609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766560" y="5138928"/>
            <a:ext cx="4526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señal no atraviesa la roca. </a:t>
            </a:r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respeta la física del túnel: la cobertura viaja por las labores abiertas, con penalización por cada galería cruzada.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B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217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4864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Resultados: todos los KPIs se cumplen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13232" y="1261872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ejecuciones · 10 semillas independientes · media ± intervalo de confianza al 95 %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85800" y="1920240"/>
            <a:ext cx="3456432" cy="1920240"/>
          </a:xfrm>
          <a:prstGeom prst="roundRect">
            <a:avLst>
              <a:gd name="adj" fmla="val 4762"/>
            </a:avLst>
          </a:prstGeom>
          <a:solidFill>
            <a:srgbClr val="0A2B66"/>
          </a:solidFill>
          <a:ln w="12700">
            <a:solidFill>
              <a:srgbClr val="1D4B9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148840"/>
            <a:ext cx="34564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AA0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3.04 ms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85800" y="3017520"/>
            <a:ext cx="3456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OWD comandos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3383280"/>
            <a:ext cx="3456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B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 ≤ 20 ms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70832" y="1920240"/>
            <a:ext cx="3456432" cy="1920240"/>
          </a:xfrm>
          <a:prstGeom prst="roundRect">
            <a:avLst>
              <a:gd name="adj" fmla="val 4762"/>
            </a:avLst>
          </a:prstGeom>
          <a:solidFill>
            <a:srgbClr val="0A2B66"/>
          </a:solidFill>
          <a:ln w="12700">
            <a:solidFill>
              <a:srgbClr val="1D4B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70832" y="2148840"/>
            <a:ext cx="34564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AA0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35.9 ms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370832" y="3017520"/>
            <a:ext cx="3456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Latencia vídeo E2E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370832" y="3383280"/>
            <a:ext cx="3456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B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 ≤ 150 ms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55864" y="1920240"/>
            <a:ext cx="3456432" cy="1920240"/>
          </a:xfrm>
          <a:prstGeom prst="roundRect">
            <a:avLst>
              <a:gd name="adj" fmla="val 4762"/>
            </a:avLst>
          </a:prstGeom>
          <a:solidFill>
            <a:srgbClr val="0A2B66"/>
          </a:solidFill>
          <a:ln w="12700">
            <a:solidFill>
              <a:srgbClr val="1D4B9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55864" y="2148840"/>
            <a:ext cx="34564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AA0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0.28 ms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055864" y="3017520"/>
            <a:ext cx="3456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Jitter P95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055864" y="3383280"/>
            <a:ext cx="3456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B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 ≤ 10 ms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5800" y="4069080"/>
            <a:ext cx="3456432" cy="1920240"/>
          </a:xfrm>
          <a:prstGeom prst="roundRect">
            <a:avLst>
              <a:gd name="adj" fmla="val 4762"/>
            </a:avLst>
          </a:prstGeom>
          <a:solidFill>
            <a:srgbClr val="0A2B66"/>
          </a:solidFill>
          <a:ln w="12700">
            <a:solidFill>
              <a:srgbClr val="1D4B9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4297680"/>
            <a:ext cx="34564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AA0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40.1 Mbps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685800" y="5166360"/>
            <a:ext cx="3456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vídeo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85800" y="5532120"/>
            <a:ext cx="3456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B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 ≥ 38 Mbps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70832" y="4069080"/>
            <a:ext cx="3456432" cy="1920240"/>
          </a:xfrm>
          <a:prstGeom prst="roundRect">
            <a:avLst>
              <a:gd name="adj" fmla="val 4762"/>
            </a:avLst>
          </a:prstGeom>
          <a:solidFill>
            <a:srgbClr val="0A2B66"/>
          </a:solidFill>
          <a:ln w="12700">
            <a:solidFill>
              <a:srgbClr val="1D4B9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70832" y="4297680"/>
            <a:ext cx="34564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AA0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0.06 %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4370832" y="5166360"/>
            <a:ext cx="3456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PLR comandos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370832" y="5532120"/>
            <a:ext cx="3456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B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 ≤ 0.5 %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055864" y="4069080"/>
            <a:ext cx="3456432" cy="1920240"/>
          </a:xfrm>
          <a:prstGeom prst="roundRect">
            <a:avLst>
              <a:gd name="adj" fmla="val 4762"/>
            </a:avLst>
          </a:prstGeom>
          <a:solidFill>
            <a:srgbClr val="0A2B66"/>
          </a:solidFill>
          <a:ln w="12700">
            <a:solidFill>
              <a:srgbClr val="1D4B9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55864" y="4297680"/>
            <a:ext cx="34564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AA0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100 %</a:t>
            </a:r>
            <a:endParaRPr lang="en-US" sz="4000" dirty="0"/>
          </a:p>
        </p:txBody>
      </p:sp>
      <p:sp>
        <p:nvSpPr>
          <p:cNvPr id="26" name="Text 24"/>
          <p:cNvSpPr/>
          <p:nvPr/>
        </p:nvSpPr>
        <p:spPr>
          <a:xfrm>
            <a:off x="8055864" y="5166360"/>
            <a:ext cx="3456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Disponibilidad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055864" y="5532120"/>
            <a:ext cx="3456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B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 ≥ 99.9 %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B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red cubre todo el recorrido del vehículo</a:t>
            </a:r>
            <a:endParaRPr lang="en-US" sz="3400" dirty="0"/>
          </a:p>
        </p:txBody>
      </p:sp>
      <p:pic>
        <p:nvPicPr>
          <p:cNvPr id="3" name="Image 0" descr="C:/Users/Adrian Lopez/Documents/tesis_proyecto/fase4/presentacion/grafico_rssi_asocia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08760"/>
            <a:ext cx="6949440" cy="41605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863840" y="1508760"/>
            <a:ext cx="3611880" cy="1828800"/>
          </a:xfrm>
          <a:prstGeom prst="roundRect">
            <a:avLst>
              <a:gd name="adj" fmla="val 1500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863840" y="1691640"/>
            <a:ext cx="3611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E7A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−72.1 dBm</a:t>
            </a:r>
            <a:endParaRPr lang="en-US" sz="3800" dirty="0"/>
          </a:p>
        </p:txBody>
      </p:sp>
      <p:sp>
        <p:nvSpPr>
          <p:cNvPr id="6" name="Text 3"/>
          <p:cNvSpPr/>
          <p:nvPr/>
        </p:nvSpPr>
        <p:spPr>
          <a:xfrm>
            <a:off x="8001000" y="2487168"/>
            <a:ext cx="3337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peor nivel de señal del enlace en todo el ciclo (9.9 dB sobre el umbral usable)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7863840" y="3520440"/>
            <a:ext cx="3611880" cy="2148840"/>
          </a:xfrm>
          <a:prstGeom prst="roundRect">
            <a:avLst>
              <a:gd name="adj" fmla="val 1277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92440" y="3703320"/>
            <a:ext cx="3200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Roaming estable por diseño.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vehículo no persigue al AP más cercano (evita micro-cortes): mantiene un enlace tipo make-before-break, como la malla industrial real. Cuando el traspaso ocurre, dura </a:t>
            </a:r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E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 1 ms.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85800" y="5760720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RSSI del enlace asociado durante el recorrido — 10 semillas.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B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prioridad WMM protege lo crítico — con 10 semillas de evidencia</a:t>
            </a:r>
            <a:endParaRPr lang="en-US" sz="3400" dirty="0"/>
          </a:p>
        </p:txBody>
      </p:sp>
      <p:pic>
        <p:nvPicPr>
          <p:cNvPr id="3" name="Image 0" descr="C:/Users/Adrian Lopez/Documents/tesis_proyecto/fase4/presentacion/wmm_semill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9235440" cy="43891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921240" y="1600200"/>
            <a:ext cx="1783080" cy="4389120"/>
          </a:xfrm>
          <a:prstGeom prst="roundRect">
            <a:avLst>
              <a:gd name="adj" fmla="val 1538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058400" y="1783080"/>
            <a:ext cx="1536192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lectura
</a:t>
            </a:r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Cajas diminutas = resultados estables entre semillas.
</a:t>
            </a:r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Bajo estrés, los comandos suben a 6.8 ms — lejos del límite de 20.
</a:t>
            </a:r>
            <a:pPr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1E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presión va a la latencia, nunca a las pérdidas.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B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 estándar físico a la antena: profundidad del análisis</a:t>
            </a:r>
            <a:endParaRPr lang="en-US" sz="3400" dirty="0"/>
          </a:p>
        </p:txBody>
      </p:sp>
      <p:pic>
        <p:nvPicPr>
          <p:cNvPr id="3" name="Image 0" descr="C:/Users/Adrian Lopez/Documents/tesis_proyecto/fase4/presentacion/wlan_802_11a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54480"/>
            <a:ext cx="6675120" cy="2834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4434840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 física 802.11ac real (WLAN Toolbox): PER vs SNR por esquema de modulación y constelación 256-QAM ecualizada tras el canal.</a:t>
            </a:r>
            <a:endParaRPr lang="en-US" sz="1100" dirty="0"/>
          </a:p>
        </p:txBody>
      </p:sp>
      <p:pic>
        <p:nvPicPr>
          <p:cNvPr id="5" name="Image 1" descr="C:/Users/Adrian Lopez/Documents/tesis_proyecto/fase4/presentacion/patron_antenas_3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554480"/>
            <a:ext cx="3886200" cy="28346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635240" y="4434840"/>
            <a:ext cx="3886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12 AP irradiando con sus patrones reales (Antenna Toolbox) sobre la geometría de la mina.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685800" y="5166360"/>
            <a:ext cx="10789920" cy="960120"/>
          </a:xfrm>
          <a:prstGeom prst="roundRect">
            <a:avLst>
              <a:gd name="adj" fmla="val 2857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914400" y="5285232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niveles de validación: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canal calibrado con site survey real (TamoGraph) · simulación de red completa (NS-3) · capa física del estándar y patrones de antena (MATLAB). Cada decisión del diseño es trazable a evidencia.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B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 antenas del diseño y sus patrones 3D</a:t>
            </a:r>
            <a:endParaRPr lang="en-US" sz="3400" dirty="0"/>
          </a:p>
        </p:txBody>
      </p:sp>
      <p:pic>
        <p:nvPicPr>
          <p:cNvPr id="3" name="Image 0" descr="C:/Users/Adrian Lopez/Documents/tesis_proyecto/fase4/presentacion/patron3d_haw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54480"/>
            <a:ext cx="3794760" cy="3063240"/>
          </a:xfrm>
          <a:prstGeom prst="rect">
            <a:avLst/>
          </a:prstGeom>
        </p:spPr>
      </p:pic>
      <p:pic>
        <p:nvPicPr>
          <p:cNvPr id="4" name="Image 1" descr="C:/Users/Adrian Lopez/Documents/tesis_proyecto/fase4/presentacion/patron3d_cardin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1554480"/>
            <a:ext cx="3794760" cy="3063240"/>
          </a:xfrm>
          <a:prstGeom prst="rect">
            <a:avLst/>
          </a:prstGeom>
        </p:spPr>
      </p:pic>
      <p:pic>
        <p:nvPicPr>
          <p:cNvPr id="5" name="Image 2" descr="C:/Users/Adrian Lopez/Documents/tesis_proyecto/fase4/presentacion/patron3d_lh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0" y="1554480"/>
            <a:ext cx="3337560" cy="3063240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502920" y="4709160"/>
            <a:ext cx="3794760" cy="960120"/>
          </a:xfrm>
          <a:prstGeom prst="roundRect">
            <a:avLst>
              <a:gd name="adj" fmla="val 2857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685800" y="4800600"/>
            <a:ext cx="3429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Hawk — RCP-50 LHP/RHP (par)</a:t>
            </a:r>
            <a:endParaRPr lang="en-US" sz="1250" dirty="0"/>
          </a:p>
        </p:txBody>
      </p:sp>
      <p:sp>
        <p:nvSpPr>
          <p:cNvPr id="8" name="Text 3"/>
          <p:cNvSpPr/>
          <p:nvPr/>
        </p:nvSpPr>
        <p:spPr>
          <a:xfrm>
            <a:off x="685800" y="5120640"/>
            <a:ext cx="3429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dBi · BIDIRECCIONAL: dos lóbulos a lo largo de la galería · pol. circular izq./der. (diversidad MIMO) · tramos largos</a:t>
            </a:r>
            <a:endParaRPr lang="en-US" sz="1000" dirty="0"/>
          </a:p>
        </p:txBody>
      </p:sp>
      <p:sp>
        <p:nvSpPr>
          <p:cNvPr id="9" name="Shape 4"/>
          <p:cNvSpPr/>
          <p:nvPr/>
        </p:nvSpPr>
        <p:spPr>
          <a:xfrm>
            <a:off x="4434840" y="4709160"/>
            <a:ext cx="3794760" cy="960120"/>
          </a:xfrm>
          <a:prstGeom prst="roundRect">
            <a:avLst>
              <a:gd name="adj" fmla="val 2857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10" name="Text 5"/>
          <p:cNvSpPr/>
          <p:nvPr/>
        </p:nvSpPr>
        <p:spPr>
          <a:xfrm>
            <a:off x="4617720" y="4800600"/>
            <a:ext cx="3429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Cardinal — EPNT-7</a:t>
            </a:r>
            <a:endParaRPr lang="en-US" sz="1250" dirty="0"/>
          </a:p>
        </p:txBody>
      </p:sp>
      <p:sp>
        <p:nvSpPr>
          <p:cNvPr id="11" name="Text 6"/>
          <p:cNvSpPr/>
          <p:nvPr/>
        </p:nvSpPr>
        <p:spPr>
          <a:xfrm>
            <a:off x="4617720" y="5120640"/>
            <a:ext cx="3429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7.5 dBi · omnidireccional (la “dona” es su patrón real) · cruceros</a:t>
            </a:r>
            <a:endParaRPr lang="en-US" sz="1000" dirty="0"/>
          </a:p>
        </p:txBody>
      </p:sp>
      <p:sp>
        <p:nvSpPr>
          <p:cNvPr id="12" name="Shape 7"/>
          <p:cNvSpPr/>
          <p:nvPr/>
        </p:nvSpPr>
        <p:spPr>
          <a:xfrm>
            <a:off x="8366760" y="4709160"/>
            <a:ext cx="3337560" cy="960120"/>
          </a:xfrm>
          <a:prstGeom prst="roundRect">
            <a:avLst>
              <a:gd name="adj" fmla="val 2857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8549640" y="4800600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LHD — HELI-40</a:t>
            </a:r>
            <a:endParaRPr lang="en-US" sz="1250" dirty="0"/>
          </a:p>
        </p:txBody>
      </p:sp>
      <p:sp>
        <p:nvSpPr>
          <p:cNvPr id="14" name="Text 9"/>
          <p:cNvSpPr/>
          <p:nvPr/>
        </p:nvSpPr>
        <p:spPr>
          <a:xfrm>
            <a:off x="8549640" y="51206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4.8 dBic · pol. circular · BIDIRECCIONAL: dos lóbulos por el túnel</a:t>
            </a:r>
            <a:endParaRPr lang="en-US" sz="1000" dirty="0"/>
          </a:p>
        </p:txBody>
      </p:sp>
      <p:sp>
        <p:nvSpPr>
          <p:cNvPr id="15" name="Text 10"/>
          <p:cNvSpPr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Patrones de directividad calculados por método de momentos (Antenna Toolbox, 5 GHz); los bidireccionales (RCP-50 y HELI-40) sintetizados según la especificación de sus datasheets Poynting.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B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Validación cruzada del modelo de canal</a:t>
            </a:r>
            <a:endParaRPr lang="en-US" sz="3400" dirty="0"/>
          </a:p>
        </p:txBody>
      </p:sp>
      <p:pic>
        <p:nvPicPr>
          <p:cNvPr id="3" name="Image 0" descr="C:/Users/Adrian Lopez/Documents/tesis_proyecto/fase4/presentacion/raytracing_validac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08760"/>
            <a:ext cx="7315200" cy="42062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229600" y="1508760"/>
            <a:ext cx="3246120" cy="2057400"/>
          </a:xfrm>
          <a:prstGeom prst="roundRect">
            <a:avLst>
              <a:gd name="adj" fmla="val 1333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412480" y="1664208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Zona de concordancia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412480" y="2048256"/>
            <a:ext cx="29260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campo cercano, el ray-tracing 3D (SBR, roca εr=6, σ=0.01 S/m) coincide con el modelo two-slope: error medio ≈ 5 dB.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8229600" y="3749040"/>
            <a:ext cx="3246120" cy="2148840"/>
          </a:xfrm>
          <a:prstGeom prst="roundRect">
            <a:avLst>
              <a:gd name="adj" fmla="val 1277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0" y="3904488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donde divergen…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412480" y="4288536"/>
            <a:ext cx="29260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…el ray-tracing SUBESTIMA el alcance: no captura el modo guía de onda del túnel (Sun &amp; Akyildiz). Justo por eso el diseño usa el two-slope calibrado con el site survey.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85800" y="58064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Comparación two-slope vs ray-tracing SBR sobre la geometría 3D de la galería (MATLAB).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B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solución idónea en todas sus dimensiones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85800" y="1463040"/>
            <a:ext cx="5577840" cy="1005840"/>
          </a:xfrm>
          <a:prstGeom prst="roundRect">
            <a:avLst>
              <a:gd name="adj" fmla="val 2727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60120" y="1572768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Idoneidad técnica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60120" y="1938528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los KPIs cumplen con margen y respaldo estadístico de 10 semillas.</a:t>
            </a:r>
            <a:endParaRPr lang="en-US" sz="1080" dirty="0"/>
          </a:p>
        </p:txBody>
      </p:sp>
      <p:sp>
        <p:nvSpPr>
          <p:cNvPr id="6" name="Shape 4"/>
          <p:cNvSpPr/>
          <p:nvPr/>
        </p:nvSpPr>
        <p:spPr>
          <a:xfrm>
            <a:off x="685800" y="2633472"/>
            <a:ext cx="5577840" cy="1005840"/>
          </a:xfrm>
          <a:prstGeom prst="roundRect">
            <a:avLst>
              <a:gd name="adj" fmla="val 2727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74320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Idoneidad económica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60120" y="3108960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Inversión incremental sobre la infraestructura existente; despliegue gradual por frentes.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685800" y="3803904"/>
            <a:ext cx="5577840" cy="1005840"/>
          </a:xfrm>
          <a:prstGeom prst="roundRect">
            <a:avLst>
              <a:gd name="adj" fmla="val 2727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3913632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Idoneidad regulatoria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960120" y="4279392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Banda 5 GHz de uso libre (MTC); alineada al reglamento de seguridad minera (D.S. 024-2016-EM).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685800" y="4974336"/>
            <a:ext cx="5577840" cy="1005840"/>
          </a:xfrm>
          <a:prstGeom prst="roundRect">
            <a:avLst>
              <a:gd name="adj" fmla="val 2727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5084064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Dimensión ética y social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960120" y="5449824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Retira al trabajador de la zona de riesgo; gestión responsable del cambio con el personal.</a:t>
            </a:r>
            <a:endParaRPr lang="en-US" sz="1080" dirty="0"/>
          </a:p>
        </p:txBody>
      </p:sp>
      <p:pic>
        <p:nvPicPr>
          <p:cNvPr id="15" name="Image 0" descr="C:/Users/Adrian Lopez/Documents/tesis_proyecto/fase4/presentacion/fig_capex_ope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1554480"/>
            <a:ext cx="4892040" cy="397764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629400" y="5577840"/>
            <a:ext cx="4892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económica: inversión, operación y mecanismos de retorno.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B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217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6858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Reflexión final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188720" y="1554480"/>
            <a:ext cx="98298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Diseñé una red que puede sacar a una persona de la zona de peligro dentro de una mina.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1188720" y="3154680"/>
            <a:ext cx="9829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demostré, con evidencia reproducible, que es viable.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77240" y="4069080"/>
            <a:ext cx="3429000" cy="2103120"/>
          </a:xfrm>
          <a:prstGeom prst="roundRect">
            <a:avLst>
              <a:gd name="adj" fmla="val 4348"/>
            </a:avLst>
          </a:prstGeom>
          <a:solidFill>
            <a:srgbClr val="0A2B66"/>
          </a:solidFill>
          <a:ln w="12700">
            <a:solidFill>
              <a:srgbClr val="1D4B9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4251960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logré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4681728"/>
            <a:ext cx="2971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red validada sobre la geometría real, con todos los KPIs cumplidos y trazabilidad completa de cada número.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434840" y="4069080"/>
            <a:ext cx="3429000" cy="2103120"/>
          </a:xfrm>
          <a:prstGeom prst="roundRect">
            <a:avLst>
              <a:gd name="adj" fmla="val 4348"/>
            </a:avLst>
          </a:prstGeom>
          <a:solidFill>
            <a:srgbClr val="0A2B66"/>
          </a:solidFill>
          <a:ln w="12700">
            <a:solidFill>
              <a:srgbClr val="1D4B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63440" y="4251960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aprendí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4681728"/>
            <a:ext cx="2971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integrar propagación, redes y análisis de idoneidad — y a defender cada decisión con datos, no con opiniones.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092440" y="4069080"/>
            <a:ext cx="3429000" cy="2103120"/>
          </a:xfrm>
          <a:prstGeom prst="roundRect">
            <a:avLst>
              <a:gd name="adj" fmla="val 4348"/>
            </a:avLst>
          </a:prstGeom>
          <a:solidFill>
            <a:srgbClr val="0A2B66"/>
          </a:solidFill>
          <a:ln w="12700">
            <a:solidFill>
              <a:srgbClr val="1D4B9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21040" y="4251960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sigue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4681728"/>
            <a:ext cx="2971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camino replicable hacia una minería peruana más segura — y la base de un artículo de investigación.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B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217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Adrian Lopez/Documents/tesis_proyecto/fase4/presentacion/mina_realista_3d.png">    </p:cNvPr>
          <p:cNvPicPr>
            <a:picLocks noChangeAspect="1"/>
          </p:cNvPicPr>
          <p:nvPr/>
        </p:nvPicPr>
        <p:blipFill>
          <a:blip r:embed="rId1">
            <a:alphaModFix amt="75000"/>
          </a:blip>
          <a:stretch>
            <a:fillRect/>
          </a:stretch>
        </p:blipFill>
        <p:spPr>
          <a:xfrm>
            <a:off x="7315200" y="3291840"/>
            <a:ext cx="4873752" cy="3566160"/>
          </a:xfrm>
          <a:prstGeom prst="ellipse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237744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</a:t>
            </a:r>
            <a:endParaRPr lang="en-US" sz="5400" dirty="0"/>
          </a:p>
        </p:txBody>
      </p:sp>
      <p:sp>
        <p:nvSpPr>
          <p:cNvPr id="4" name="Text 1"/>
          <p:cNvSpPr/>
          <p:nvPr/>
        </p:nvSpPr>
        <p:spPr>
          <a:xfrm>
            <a:off x="804672" y="352044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¿Preguntas?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804672" y="6035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C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Adrián Álvaro López Pascual · Ingeniería de las Telecomunicaciones · PUCP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B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2026-07-17T04:28:41Z</dcterms:created>
  <dcterms:modified xsi:type="dcterms:W3CDTF">2026-07-17T04:28:41Z</dcterms:modified>
</cp:coreProperties>
</file>