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2867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al jurado. Nombre completo, título de la tesis, asesor. 20 segundos, con calma. La imagen es el modelo 3D real del nivel NV1640 construido en MATLAB.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Descripción breve obligatoria: qué es y qué logra, sin entrar a detalles. 40 segundos. 'Esta tesis diseña y valida la red que permite sacar al operador del frente de riesgo sin detener la producción.'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Empezar con la historia personal (genuina, 45 s) — el vínculo con la minería y la seguridad del trabajador. Luego el dato duro de OSINERGMIN. Cerrar con la oportunidad técnica: 'la teleoperación existe; lo que falta demostrar es que la RED la sostiene en una mina real. Eso hice.'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Leer el objetivo general con énfasis en 'evidencia verificable'. Los 6 específicos en 20 segundos cada uno máximo, conectándolos: canal → arquitectura → radio → QoS → validación → idoneidad. Son la columna vertebral de los capítulos.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MINUTOS. MENCIONAR 'Design Thinking' explícitamente (rúbrica). Recorrer los 5 pasos con 30-40 s c/u anclando cada uno a lo que se hizo: empatizar (operador), definir (KPIs), idear (RSL Kitchenham + multicriterio), prototipar (NS-3 con geometría real), validar (TamoGraph + 10 semillas). Cerrar con el rigor estadístico: 'ningún número de esta tesis sale de una sola corrida'.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Inicio de los 7 minutos de resultados. Mostrar el plano real 15 s. REPRODUCIR EL VIDEO (clic) mientras se explica: 'el vehículo recorre el ciclo real de operación; arriba se ve el AP que lo sirve y su nivel de señal — datos de la simulación, no una caricatura'. Si el video no reproduce, seguir con la imagen sin perder 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segundos. La arquitectura documentada: solo el ultimo tramo es inalambrico (LHD a AP); del AP en adelante todo va por cable — Cat 6 al switch de acceso y anillo de fibra al core. El ANILLO da redundancia: si se corta un lado, el trafico gira por el otro. Diseno alineado a la red documentada de la mina.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slide más importante: 60-90 segundos. Leer los tres primeros con sus requisitos ('3 milisegundos contra un límite de 20'). Insistir: son medias con intervalo de confianza sobre 10 semillas — no una corrida afortunada. Todos cumplen con MARGEN.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 la pregunta clásica del jurado ('¿y si pierde señal en la curva?'). La línea azul nunca baja de -72.1 dBm: margen de 9.9 dB. Explicar el roaming estable: make-before-break, igual que el equipo real. Traspaso peor caso 0.91 ms contra 150 permitidos.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segundos. Panel (a): la latencia de cada flujo con la dispersión de las 10 semillas — las cajas son diminutas: el resultado es estable, no una corrida afortunada. Comandos y telemetría ~3 ms, vídeo 36 ms. Panel (b): los 4 escenarios — bajo estrés de vídeo los comandos suben de 3.0 a 6.8 ms (×2.3) pero NUNCA se acercan al límite de 20: la clase AC_VO los protege. Pregunta anticipada '¿por qué la telemetría no tiene prioridad?': es tolerante al retardo (datos de estado); lo crítico es el mando. Y aun en AC_BE mide 3.08 ms — la prioridad es un seguro para cuando hay presión.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segundos. Este es el diferenciador técnico: no solo simulación de red — también la capa física del estándar (jerarquía de MCS correcta, constelación 256-QAM tras el canal) y los patrones reales de las antenas en la geometría de la mina. Mensaje: 'el análisis baja hasta el símbolo de modulación'.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segundos. Justificación de cada antena según datasheet Poynting: el Hawk lleva el PAR RCP-50 LHP + RHP (11 dBi, BIDIRECCIONAL, 'Mine/tunnel installations'): dos lóbulos que cubren la galería en AMBOS sentidos, y las dos polarizaciones circulares (izquierda y derecha) dan la diversidad para los 2 streams MIMO — por eso va en los TRAMOS LARGOS. El Cardinal usa la EPNT-7 omni para los cruceros. El LHD lleva la HELI-40 (4.8 dBic), también bidireccional — el vehículo avanza y retrocede. La polarización circular mitiga el multitrayecto de la roca. Patrones calculados por método de momentos; los bidireccionales sintetizados según especificación.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segundos — la slide que blinda el modelo ante el jurado. Justificación paso a paso: (1) construí la galería en 3D con propiedades de roca (permitividad 6, conductividad 0.01 S/m); (2) lancé ray-tracing SBR con hasta 6 reflexiones; (3) en campo cercano AMBOS métodos coinciden (error ~5 dB) — el modelo queda validado por un método independiente; (4) a larga distancia el ray-tracing pierde los rayos porque no modela el guiado de onda del túnel — limitación documentada en la literatura — lo que JUSTIFICA usar el two-slope calibrado con el survey real. Doble validación + honestidad metodológica.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segundos. Recorrer las 4 dimensiones. En económica ser honesto: 'la estructura de costos y los mecanismos de retorno están definidos; la cuantificación exacta requiere cotizaciones vigentes y es el paso siguiente con planeamiento de la mina'.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cierre vendedor que pide el profesor, desde la plataforma de éxito: 60 segundos. Frase central con pausa. Tres columnas: logro, aprendizaje, proyección. Terminar mirando al jurado: 'la tecnología ya existe; lo que esta tesis aporta es la evidencia de que funciona donde más se necesita'.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al jurado y al asesor. Respirar. Las preguntas se responden con la estructura: reconocer → responder con el dato → remitir a la evidencia (capítulo/anexo). Si no sé algo: reconocerlo y remitirlo a trabajo futuro.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7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drian Lopez/Documents/tesis_proyecto/fase4/presentacion/mina_realista_3d.png"/>
          <p:cNvPicPr>
            <a:picLocks noChangeAspect="1"/>
          </p:cNvPicPr>
          <p:nvPr/>
        </p:nvPicPr>
        <p:blipFill>
          <a:blip r:embed="rId3">
            <a:alphaModFix amt="82000"/>
          </a:blip>
          <a:stretch>
            <a:fillRect/>
          </a:stretch>
        </p:blipFill>
        <p:spPr>
          <a:xfrm>
            <a:off x="6492240" y="1463040"/>
            <a:ext cx="5120640" cy="393192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CATÓLICA DEL PERÚ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77240" y="102412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Ciencias e Ingeniería · Ingeniería de las Telecomunicaciones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77240" y="1965960"/>
            <a:ext cx="55778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de una red IEEE 802.11ac para la teleoperación de un vehículo LHD en la extracción de mineral en galerías subterráneas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777240" y="4709160"/>
            <a:ext cx="5486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Álvaro López Pascual
</a:t>
            </a:r>
            <a:r>
              <a:rPr lang="en-US" sz="14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Asesor: Dr. Pastor David Chávez Muñoz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77240" y="5897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Sustentación · Trabajo de Tesis 2 ·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¿De qué trata este trabajo?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escena_mina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5394960" cy="4023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09360" y="5486400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de producción NV1640 (Nexa Cerro Lindo): cobertura calculada, recorrido real del vehículo y patrón de la antena.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1463040"/>
            <a:ext cx="5303520" cy="1298448"/>
          </a:xfrm>
          <a:prstGeom prst="roundRect">
            <a:avLst>
              <a:gd name="adj" fmla="val 2113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609344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Teleoperar un cargador LHD desde superficie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960120" y="2048256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operador sale de la zona de riesgo; el vehículo se conduce por vídeo en tiempo real, comandos y telemetría.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85800" y="2944368"/>
            <a:ext cx="5303520" cy="1298448"/>
          </a:xfrm>
          <a:prstGeom prst="roundRect">
            <a:avLst>
              <a:gd name="adj" fmla="val 2113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3090672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una red IEEE 802.11ac diseñada para la mina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960120" y="3529584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puntos de acceso sobre un backbone de fibra, planificados sobre la geometría real de las galerías.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85800" y="4425696"/>
            <a:ext cx="5303520" cy="1298448"/>
          </a:xfrm>
          <a:prstGeom prst="roundRect">
            <a:avLst>
              <a:gd name="adj" fmla="val 2113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457200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Validada por simulación con rigor estadístico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960120" y="5010912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NS-3 sobre el trazado real: 18 ejecuciones, 10 semillas independientes, todos los KPIs se cumplen.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esta tesis?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463040"/>
            <a:ext cx="5394960" cy="2286000"/>
          </a:xfrm>
          <a:prstGeom prst="roundRect">
            <a:avLst>
              <a:gd name="adj" fmla="val 12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627632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motivación con raíz personal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2048256"/>
            <a:ext cx="48920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i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Nací </a:t>
            </a:r>
            <a:r>
              <a:rPr lang="en-US" sz="1350" i="1" dirty="0" err="1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</a:t>
            </a:r>
            <a:r>
              <a:rPr lang="en-US" sz="1350" i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la ciudad de </a:t>
            </a:r>
            <a:r>
              <a:rPr lang="en-US" sz="1350" i="1" dirty="0" err="1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Cerros</a:t>
            </a:r>
            <a:r>
              <a:rPr lang="en-US" sz="1350" i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Pasco </a:t>
            </a:r>
            <a:r>
              <a:rPr lang="en-US" sz="1350" i="1" dirty="0" err="1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donde</a:t>
            </a:r>
            <a:r>
              <a:rPr lang="en-US" sz="1350" i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la minería marca la vida de las familias. Crecí sabiendo lo que significa que alguien entre a una labor subterránea — y esta carrera me dio la forma de devolver algo: usar las telecomunicaciones para cuidar a esas personas.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3977640"/>
            <a:ext cx="5394960" cy="228600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409651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que no se puede ignorar</a:t>
            </a:r>
            <a:endParaRPr lang="en-US" sz="1350" dirty="0"/>
          </a:p>
        </p:txBody>
      </p:sp>
      <p:pic>
        <p:nvPicPr>
          <p:cNvPr id="8" name="Image 0" descr="C:/Users/Adrian Lopez/Documents/tesis_proyecto/fase4/presentacion/osinergmin_2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526280"/>
            <a:ext cx="5029200" cy="1463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59893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Accidentes y víctimas mortales por lugar, Perú 2024 — elaborado a partir de OSINERGMIN.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400800" y="1463040"/>
            <a:ext cx="5074920" cy="4617720"/>
          </a:xfrm>
          <a:prstGeom prst="roundRect">
            <a:avLst>
              <a:gd name="adj" fmla="val 594"/>
            </a:avLst>
          </a:prstGeom>
          <a:solidFill>
            <a:srgbClr val="021740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20840" y="16916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oportunidad de ingeniería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720840" y="2240280"/>
            <a:ext cx="44348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Retirar a la persona del riesgo </a:t>
            </a: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detener la extracción: teleoperación.
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eslabón crítico es la red</a:t>
            </a: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vídeo en tiempo real, comandos de baja latencia y telemetría continua dentro de galerías con curvas, polvo y roca.
</a:t>
            </a: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tesis demuestra que ese eslabón es viable </a:t>
            </a: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estándar abierto y equipos industriales disponibles.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417320"/>
            <a:ext cx="10835640" cy="1143000"/>
          </a:xfrm>
          <a:prstGeom prst="roundRect">
            <a:avLst>
              <a:gd name="adj" fmla="val 2400"/>
            </a:avLst>
          </a:prstGeom>
          <a:solidFill>
            <a:srgbClr val="0033A0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572768"/>
            <a:ext cx="10287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general:  </a:t>
            </a: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una red IEEE 802.11ac que soporte la teleoperación de un vehículo LHD en las galerías del nivel NV1640, cumpliendo requisitos de latencia, capacidad y disponibilidad con evidencia verificable.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718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63040" y="2971800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Caracterizar el canal de propagación en galerías (modelo two-slope calibrado)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2880360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29718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995160" y="2971800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la arquitectura física y lógica (backbone óptico + malla de acceso)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" y="3959352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050792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63040" y="4050792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Dimensionar radio y antenas con equipos industriales reales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17920" y="3959352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4050792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995160" y="4050792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políticas de QoS y movilidad (WMM, roaming estable)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5038344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129784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463040" y="5129784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el desempeño extremo a extremo por simulación NS-3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17920" y="5038344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5129784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995160" y="5129784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idoneidad técnica, económica, regulatoria y ética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Metodología: Design Thinking aplicado a ingeniería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Empatizar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13816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operador y su exposición al riesgo en el frente</a:t>
            </a:r>
            <a:endParaRPr lang="en-US" sz="1030" dirty="0"/>
          </a:p>
        </p:txBody>
      </p:sp>
      <p:sp>
        <p:nvSpPr>
          <p:cNvPr id="7" name="Text 5"/>
          <p:cNvSpPr/>
          <p:nvPr/>
        </p:nvSpPr>
        <p:spPr>
          <a:xfrm>
            <a:off x="2697480" y="228600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5B66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944368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44368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944368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072384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y KPIs medibles por flujo (vídeo, mando, telemetría)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4956048" y="228600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5B66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202936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02936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202936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Idear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330952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multicriterio de tecnologías (RSL método Kitchenham)</a:t>
            </a:r>
            <a:endParaRPr lang="en-US" sz="1030" dirty="0"/>
          </a:p>
        </p:txBody>
      </p:sp>
      <p:sp>
        <p:nvSpPr>
          <p:cNvPr id="17" name="Text 15"/>
          <p:cNvSpPr/>
          <p:nvPr/>
        </p:nvSpPr>
        <p:spPr>
          <a:xfrm>
            <a:off x="7214616" y="228600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5B66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7461504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61504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461504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Prototipar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589520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NS-3 sobre la geometría real + MATLAB</a:t>
            </a:r>
            <a:endParaRPr lang="en-US" sz="1030" dirty="0"/>
          </a:p>
        </p:txBody>
      </p:sp>
      <p:sp>
        <p:nvSpPr>
          <p:cNvPr id="22" name="Text 20"/>
          <p:cNvSpPr/>
          <p:nvPr/>
        </p:nvSpPr>
        <p:spPr>
          <a:xfrm>
            <a:off x="9473184" y="228600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5B66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20072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20072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9720072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848088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con site survey TamoGraph + batería multi-semilla</a:t>
            </a:r>
            <a:endParaRPr lang="en-US" sz="1030" dirty="0"/>
          </a:p>
        </p:txBody>
      </p:sp>
      <p:sp>
        <p:nvSpPr>
          <p:cNvPr id="27" name="Shape 25"/>
          <p:cNvSpPr/>
          <p:nvPr/>
        </p:nvSpPr>
        <p:spPr>
          <a:xfrm>
            <a:off x="685800" y="4343400"/>
            <a:ext cx="5349240" cy="1783080"/>
          </a:xfrm>
          <a:prstGeom prst="roundRect">
            <a:avLst>
              <a:gd name="adj" fmla="val 1538"/>
            </a:avLst>
          </a:prstGeom>
          <a:solidFill>
            <a:srgbClr val="021740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0120" y="4526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60120" y="4919472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NS-3.40</a:t>
            </a: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simulación de red a nivel de paquetes  ·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MATLAB R2024b</a:t>
            </a: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modelamiento del canal, antenas y entorno 3D  ·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TamoGraph</a:t>
            </a: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site survey real de contraste  ·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fuente única de parámetros y trazabilidad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55080" y="4343400"/>
            <a:ext cx="5120640" cy="1783080"/>
          </a:xfrm>
          <a:prstGeom prst="roundRect">
            <a:avLst>
              <a:gd name="adj" fmla="val 1538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29400" y="4526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 de la validación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629400" y="4919472"/>
            <a:ext cx="4617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ejecuciones de 300 s  ·  10 semillas independientes
</a:t>
            </a: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como media ± intervalo de confianza al 95 %. Escenarios de operación, referencia, estrés y traspaso.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diseño vive en la geometría real de la mina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plano_nv1640_p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463040"/>
            <a:ext cx="54864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56235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del nivel NV1640 (block caving tipo El Teniente): galerías, cruceros, drawpoints y los 12 AP.</a:t>
            </a:r>
            <a:endParaRPr lang="en-US" sz="1100" dirty="0"/>
          </a:p>
        </p:txBody>
      </p:sp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537960" y="1463040"/>
            <a:ext cx="4937760" cy="27889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37960" y="434340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Video: recorrido del LHD teleoperado — animación 3D con datos reales de la simulación (AP servidor y RSSI en vivo)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537960" y="5029200"/>
            <a:ext cx="4937760" cy="1051560"/>
          </a:xfrm>
          <a:prstGeom prst="roundRect">
            <a:avLst>
              <a:gd name="adj" fmla="val 2609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766560" y="5138928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señal no atraviesa la roca.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respeta la física del túnel: la cobertura viaja por las labores abiertas, con penalización por cada galería cruzada.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 la solución: anillo de fibra y malla de acceso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arquitectura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463040"/>
            <a:ext cx="7498080" cy="44805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95360" y="1463040"/>
            <a:ext cx="2926080" cy="4480560"/>
          </a:xfrm>
          <a:prstGeom prst="roundRect">
            <a:avLst>
              <a:gd name="adj" fmla="val 938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823960" y="1691640"/>
            <a:ext cx="251460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capas
</a:t>
            </a: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Control: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estación de teleoperación, controlador y gateway de malla.
</a:t>
            </a: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Backbone: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anillo de fibra óptica monomodo de 1 Gbps con switches de acceso — redundancia ante cortes.
</a:t>
            </a: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Acceso: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AP (5 Hawk en tramos largos + 7 Cardinal en cruceros) conectados por Cat 6; el LHD embarca radio y antena HELI-40.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17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Resultados: todos los KPIs se cumplen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13232" y="126187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ejecuciones · 10 semillas independientes · media ± intervalo de confianza al 95 %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3.04 ms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OWD comandos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20 ms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70832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70832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35.9 ms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370832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Latencia vídeo E2E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70832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150 ms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55864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0.28 ms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055864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Jitter P95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55864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10 ms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40.1 Mbps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85800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vídeo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≥ 38 Mbps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70832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70832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0.06 %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4370832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PLR comandos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370832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0.5 %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55864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55864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8055864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55864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≥ 99.9 %</a:t>
            </a:r>
            <a:endParaRPr lang="en-US" sz="11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red cubre todo el recorrido del vehículo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grafico_rssi_asoci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08760"/>
            <a:ext cx="6949440" cy="4160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863840" y="1508760"/>
            <a:ext cx="3611880" cy="1828800"/>
          </a:xfrm>
          <a:prstGeom prst="roundRect">
            <a:avLst>
              <a:gd name="adj" fmla="val 15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863840" y="1691640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E7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−72.1 dBm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8001000" y="2487168"/>
            <a:ext cx="3337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nivel de señal del enlace en todo el ciclo (9.9 dB sobre el umbral usable)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863840" y="3520440"/>
            <a:ext cx="3611880" cy="2148840"/>
          </a:xfrm>
          <a:prstGeom prst="roundRect">
            <a:avLst>
              <a:gd name="adj" fmla="val 127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92440" y="370332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Roaming estable por diseño. </a:t>
            </a: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vehículo no persigue al AP más cercano (evita micro-cortes): mantiene un enlace tipo make-before-break, como la malla industrial real. Cuando el traspaso ocurre, dura </a:t>
            </a:r>
            <a:r>
              <a:rPr lang="en-US" sz="12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5800" y="576072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RSSI del enlace asociado durante el recorrido — 10 semillas.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prioridad WMM protege lo crítico — con 10 semillas de evidencia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wmm_semil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00200"/>
            <a:ext cx="9235440" cy="43891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921240" y="1600200"/>
            <a:ext cx="1783080" cy="4389120"/>
          </a:xfrm>
          <a:prstGeom prst="roundRect">
            <a:avLst>
              <a:gd name="adj" fmla="val 1538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58400" y="1783080"/>
            <a:ext cx="1536192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lectura
</a:t>
            </a: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Cajas diminutas = resultados estables entre semillas.
Bajo estrés, los comandos suben a 6.8 ms — lejos del límite de 20.
</a:t>
            </a:r>
            <a:r>
              <a:rPr lang="en-US" sz="105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presión va a la latencia, nunca a las pérdidas.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estándar físico a la antena: profundidad del análisis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wlan_802_11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54480"/>
            <a:ext cx="6675120" cy="2834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4434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física 802.11ac real (WLAN Toolbox): PER vs SNR por esquema de modulación y constelación 256-QAM ecualizada tras el canal.</a:t>
            </a:r>
            <a:endParaRPr lang="en-US" sz="1100" dirty="0"/>
          </a:p>
        </p:txBody>
      </p:sp>
      <p:pic>
        <p:nvPicPr>
          <p:cNvPr id="5" name="Image 1" descr="C:/Users/Adrian Lopez/Documents/tesis_proyecto/fase4/presentacion/patron_antenas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1554480"/>
            <a:ext cx="3886200" cy="2834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35240" y="4434840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12 AP irradiando con sus patrones reales (Antenna Toolbox) sobre la geometría de la mina.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85800" y="5166360"/>
            <a:ext cx="10789920" cy="960120"/>
          </a:xfrm>
          <a:prstGeom prst="roundRect">
            <a:avLst>
              <a:gd name="adj" fmla="val 285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14400" y="5285232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niveles de validación: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canal calibrado con site survey real (TamoGraph) · simulación de red completa (NS-3) · capa física del estándar y patrones de antena (MATLAB). Cada decisión del diseño es trazable a evidencia.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antenas del diseño y sus patrones 3D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patron3d_haw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54480"/>
            <a:ext cx="3794760" cy="3063240"/>
          </a:xfrm>
          <a:prstGeom prst="rect">
            <a:avLst/>
          </a:prstGeom>
        </p:spPr>
      </p:pic>
      <p:pic>
        <p:nvPicPr>
          <p:cNvPr id="4" name="Image 1" descr="C:/Users/Adrian Lopez/Documents/tesis_proyecto/fase4/presentacion/patron3d_card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1554480"/>
            <a:ext cx="3794760" cy="3063240"/>
          </a:xfrm>
          <a:prstGeom prst="rect">
            <a:avLst/>
          </a:prstGeom>
        </p:spPr>
      </p:pic>
      <p:pic>
        <p:nvPicPr>
          <p:cNvPr id="5" name="Image 2" descr="C:/Users/Adrian Lopez/Documents/tesis_proyecto/fase4/presentacion/patron3d_lh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6760" y="1554480"/>
            <a:ext cx="3337560" cy="3063240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502920" y="4709160"/>
            <a:ext cx="3794760" cy="960120"/>
          </a:xfrm>
          <a:prstGeom prst="roundRect">
            <a:avLst>
              <a:gd name="adj" fmla="val 285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685800" y="4800600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Hawk — RCP-50 LHP/RHP (par)</a:t>
            </a:r>
            <a:endParaRPr lang="en-US" sz="1250" dirty="0"/>
          </a:p>
        </p:txBody>
      </p:sp>
      <p:sp>
        <p:nvSpPr>
          <p:cNvPr id="8" name="Text 3"/>
          <p:cNvSpPr/>
          <p:nvPr/>
        </p:nvSpPr>
        <p:spPr>
          <a:xfrm>
            <a:off x="685800" y="5120640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dBi · BIDIRECCIONAL: dos lóbulos a lo largo de la galería · pol. circular izq./der. (diversidad MIMO) · tramos largos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4434840" y="4709160"/>
            <a:ext cx="3794760" cy="960120"/>
          </a:xfrm>
          <a:prstGeom prst="roundRect">
            <a:avLst>
              <a:gd name="adj" fmla="val 285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4617720" y="4800600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 — EPNT-7</a:t>
            </a:r>
            <a:endParaRPr lang="en-US" sz="1250" dirty="0"/>
          </a:p>
        </p:txBody>
      </p:sp>
      <p:sp>
        <p:nvSpPr>
          <p:cNvPr id="11" name="Text 6"/>
          <p:cNvSpPr/>
          <p:nvPr/>
        </p:nvSpPr>
        <p:spPr>
          <a:xfrm>
            <a:off x="4617720" y="5120640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 dBi · omnidireccional (la “dona” es su patrón real) · cruceros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8366760" y="4709160"/>
            <a:ext cx="3337560" cy="960120"/>
          </a:xfrm>
          <a:prstGeom prst="roundRect">
            <a:avLst>
              <a:gd name="adj" fmla="val 285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549640" y="480060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LHD — HELI-40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8549640" y="5120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 dBic · pol. circular · BIDIRECCIONAL: dos lóbulos por el túnel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de directividad calculados por método de momentos (Antenna Toolbox, 5 GHz); los bidireccionales (RCP-50 y HELI-40) sintetizados según la especificación de sus datasheets Poynting.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 cruzada del modelo de canal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raytracing_valid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08760"/>
            <a:ext cx="731520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0" y="1508760"/>
            <a:ext cx="3246120" cy="2057400"/>
          </a:xfrm>
          <a:prstGeom prst="roundRect">
            <a:avLst>
              <a:gd name="adj" fmla="val 1333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412480" y="1664208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de concordancia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412480" y="2048256"/>
            <a:ext cx="29260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campo cercano, el ray-tracing 3D (SBR, roca εr=6, σ=0.01 S/m) coincide con el modelo two-slope: error medio ≈ 5 dB.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8229600" y="3749040"/>
            <a:ext cx="3246120" cy="2148840"/>
          </a:xfrm>
          <a:prstGeom prst="roundRect">
            <a:avLst>
              <a:gd name="adj" fmla="val 127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0" y="3904488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donde divergen…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412480" y="4288536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…el ray-tracing SUBESTIMA el alcance: no captura el modo guía de onda del túnel (Sun &amp; Akyildiz). Justo por eso el diseño usa el two-slope calibrado con el site survey.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85800" y="5806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two-slope vs ray-tracing SBR sobre la geometría 3D de la galería (MATLAB).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solución idónea en todas sus dimensiones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463040"/>
            <a:ext cx="5577840" cy="1005840"/>
          </a:xfrm>
          <a:prstGeom prst="roundRect">
            <a:avLst>
              <a:gd name="adj" fmla="val 272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5727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Idoneidad técnica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60120" y="193852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KPIs cumplen con margen y respaldo estadístico de 10 semillas.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685800" y="2633472"/>
            <a:ext cx="5577840" cy="1005840"/>
          </a:xfrm>
          <a:prstGeom prst="roundRect">
            <a:avLst>
              <a:gd name="adj" fmla="val 272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743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Idoneidad económica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60120" y="310896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incremental sobre la infraestructura existente; despliegue gradual por frentes.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85800" y="3803904"/>
            <a:ext cx="5577840" cy="1005840"/>
          </a:xfrm>
          <a:prstGeom prst="roundRect">
            <a:avLst>
              <a:gd name="adj" fmla="val 272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391363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Idoneidad regulatoria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60120" y="4279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 5 GHz de uso libre (MTC); alineada al reglamento de seguridad minera (D.S. 024-2016-EM).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85800" y="4974336"/>
            <a:ext cx="5577840" cy="1005840"/>
          </a:xfrm>
          <a:prstGeom prst="roundRect">
            <a:avLst>
              <a:gd name="adj" fmla="val 272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5084064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Dimensión ética y social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60120" y="5449824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 al trabajador de la zona de riesgo; gestión responsable del cambio con el personal.</a:t>
            </a:r>
            <a:endParaRPr lang="en-US" sz="1080" dirty="0"/>
          </a:p>
        </p:txBody>
      </p:sp>
      <p:pic>
        <p:nvPicPr>
          <p:cNvPr id="15" name="Image 0" descr="C:/Users/Adrian Lopez/Documents/tesis_proyecto/fase4/presentacion/fig_capex_op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554480"/>
            <a:ext cx="4892040" cy="39776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629400" y="557784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económica: inversión, operación y mecanismos de retorno.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217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Reflexión final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188720" y="1554480"/>
            <a:ext cx="9829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Diseñé una red que puede sacar a una persona de la zona de peligro dentro de una mina.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188720" y="3154680"/>
            <a:ext cx="9829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demostré, con evidencia reproducible, que es viable.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772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logré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red validada sobre la geometría real, con todos los KPIs cumplidos y trazabilidad completa de cada número.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aprendí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integrar propagación, redes y análisis de idoneidad — y a defender cada decisión con datos, no con opiniones.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24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camino replicable hacia una minería peruana más segura — y la base de un artículo de investigación.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217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drian Lopez/Documents/tesis_proyecto/fase4/presentacion/mina_realista_3d.png"/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7315200" y="3291840"/>
            <a:ext cx="4873752" cy="356616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3774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804672" y="35204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804672" y="6035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Álvaro López Pascual · Ingeniería de las Telecomunicaciones · PUCP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2554</Words>
  <Application>Microsoft Office PowerPoint</Application>
  <PresentationFormat>Panorámica</PresentationFormat>
  <Paragraphs>179</Paragraphs>
  <Slides>16</Slides>
  <Notes>16</Notes>
  <HiddenSlides>0</HiddenSlides>
  <MMClips>1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Pontificia Universidad Católica del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Sustentación de Tesis — Red IEEE 802.11ac para teleoperación de LHD</dc:title>
  <dc:subject>Trabajo de Tesis 2</dc:subject>
  <dc:creator>Adrián Álvaro López Pascual</dc:creator>
  <cp:lastModifiedBy>Adrian Lopez Pascual</cp:lastModifiedBy>
  <cp:revision>2</cp:revision>
  <dcterms:created xsi:type="dcterms:W3CDTF">2026-07-17T04:32:34Z</dcterms:created>
  <dcterms:modified xsi:type="dcterms:W3CDTF">2026-07-17T04:37:05Z</dcterms:modified>
</cp:coreProperties>
</file>