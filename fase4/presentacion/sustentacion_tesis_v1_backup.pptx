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 señores miembros del jurado. Mi nombre es Adrián López y hoy presento el diseño de una red 802.11ac para teleoperar un vehículo LHD en minería subterránea. [Saludar con seguridad y hacer contacto visual.]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trabajo diseña una red que permite conducir el LHD a distancia. El operador ya no va dentro de la mina: opera desde superficie con video, comandos y telemetría. Lo validé simulando la red sobre la geometría REAL del nivel de la 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MINUTOS. Hablar desde el corazón, mirar al jurado.] Elegí este tema por mi vínculo personal con la minería y porque la seguridad del trabajador me importa de verdad. Vi de cerca los riesgos. Que una red bien diseñada pueda sacar a una persona de la zona de peligro le da sentido a todo lo que estudié. Y como ingeniero, el reto técnico de lograr comunicaciones confiables dentro de una galería me apasionó.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MIN, breve — el jurado ya los leyó.] El objetivo general fue diseñar la red y verificarla por simulación. Se desglosa en seis específicos: caracterizar el canal, diseñar la arquitectura, dimensionar radio y antenas, definir QoS y movilidad, validar por simulación y evaluar la viabilidad económica.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 — cómo lo hice.] Apliqué Design Thinking: empecé entendiendo al operador y su riesgo, definí los KPIs, comparé tecnologías y elegí 802.11ac, prototipé en NS-3 sobre la geometría REAL del nivel, y validé contra el site survey TamoGraph. [MENCIONAR Design Thinking explícitamente — el profesor lo exige.]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tiene tres capas: el centro de control en superficie, un backbone de fibra óptica en anillo, y la malla de acceso inalámbrico con 12 puntos de acceso. El vehículo lleva un radio embarcado. Todo sobre estándares abiertos: 802.11ac.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 — LO MÁS IMPORTANTE. Aquí me luzco.] Estos son los resultados. TODOS los indicadores cumplen, con margen amplio y respaldo estadístico de 10 semillas. La latencia de comandos: 3 ms cuando el límite es 20. El video llega con 36 ms cuando se permiten 150. Disponibilidad del 100%. No son números sueltos: cada uno viene de datos reproducibles.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pregunta natural es: ¿y la cobertura durante el movimiento? Aquí está la respuesta con datos: el enlace de servicio NUNCA baja de -72 dBm, con casi 10 dB de margen sobre el mínimo. La red mantiene al vehículo conectado en todo el recorrido. [Si preguntan por qué no salta al AP más cercano: es diseño deliberado, evita micro-cortes; el equipo real mejora aún más.]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solo probé la operación nominal. Sometí la red a estrés: subí el video a 50 Mbps, aceleré el vehículo a 4 m/s. Aun así cumple. Eso demuestra que el dimensionamiento tiene margen, no está al límite.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tesis no se queda en lo técnico. La solución es idónea también en lo económico —inversión incremental—, lo regulatorio —banda libre, reglamento minero— y sobre todo en lo ético: retira al trabajador del riesgo. Esa es la esencia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[REFLEXIÓN DE CIERRE — el pitch vendedor, desde una plataforma de éxito. Lo que el jurado se lleva.] Señores del jurado: diseñé una red que puede sacar a una persona de la zona de peligro. Y no lo afirmo: lo demostré con evidencia reproducible. Esta tesis integra todo lo que aprendí en la carrera, y abre un camino hacia una minería peruana más segura. Muchas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Quedo atento a sus preguntas. [Respirar. Escuchar la pregunta completa antes de responder. Responder TODA la pregunta — es criterio de calificación.]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PERÚ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e Ingeniería · Ingeniería de las Telecomunicaciones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una red IEEE 802.11ac para la teleoperación</a:t>
            </a:r>
            <a:endParaRPr lang="en-US" sz="3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vehículo LHD en la extracción de mineral</a:t>
            </a:r>
            <a:endParaRPr lang="en-US" sz="3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galerías subterráneas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206240" y="4343400"/>
            <a:ext cx="3749040" cy="0"/>
          </a:xfrm>
          <a:prstGeom prst="line">
            <a:avLst/>
          </a:prstGeom>
          <a:noFill/>
          <a:ln w="19050">
            <a:solidFill>
              <a:srgbClr val="5AA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7091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Tesista: 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Álvaro López Pascual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1663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Asesor: 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Pastor David Chávez Muñoz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Tesis 2 · Sustentación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trata este trabajo?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diseñó y validó por simulación una red Wi-Fi industrial que permite conducir a distancia un vehículo minero (LHD), retirando al operador de la zona de riesgo dentro de la mina.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4015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68880" y="33832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conduce el LHD dentro de la galería, expuesto a desprendimientos, gases y maquinaria.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4531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68880" y="44348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802.11ac que transmite video, comandos y telemetría para teleoperar el vehículo desde superficie.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39496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5046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68880" y="5486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NS-3 sobre la geometría real del nivel NV1640 de Nexa Cerro Lindo.</a:t>
            </a:r>
            <a:endParaRPr lang="en-US" sz="1250" dirty="0"/>
          </a:p>
        </p:txBody>
      </p:sp>
      <p:pic>
        <p:nvPicPr>
          <p:cNvPr id="14" name="Image 0" descr="C:/Users/Adrian Lopez/Documents/tesis_proyecto/fase4/presentacion/escena_mina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554480"/>
            <a:ext cx="4114800" cy="24231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35240" y="3977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3D real de la zona de producción y la red diseñada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3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74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· 3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esta tesis?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2275C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993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vínculo personal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cercanía con el mundo minero y las personas que trabajan en él me hizo ver de cerca los riesgos que enfrentan cada día bajo tierra.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2275C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23760" y="1993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primero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23760" y="251460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 la minería subterránea peruana cobra vidas. Que la tecnología pueda sacar a una persona de la zona de peligro le da sentido a esta carrera.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2275C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41422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técnico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466344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comunicaciones confiables dentro de una galería —con roca, curvas y movilidad— es de los desafíos más exigentes de las telecomunicaciones.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2275C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41422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innovación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23760" y="466344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parte de la transformación digital de la minería peruana: un camino replicable hacia operaciones más seguras.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74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· 3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0033A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red IEEE 802.11ac que habilite la teleoperación segura y confiable de un vehículo LHD en las galerías del nivel NV1640, verificando su desempeño por simulación.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2004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el canal de propagación en las galerías subterráneas.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3246120"/>
            <a:ext cx="502920" cy="502920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32004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 física y lógica de la red (backbone + acceso).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2519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Dimensionar el subsistema de radio y antenas para el túnel.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4297680"/>
            <a:ext cx="502920" cy="502920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49440" y="42519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las políticas de calidad de servicio (QoS) y movilidad.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5303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desempeño extremo a extremo por simulación.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5349240"/>
            <a:ext cx="502920" cy="502920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49440" y="5303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viabilidad técnico-económica de la solución.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74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hice · 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Design Thinking aplicado al diseño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0033A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Empatizar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al operador y el riesgo que enfrenta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80360" y="1554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E6F0FA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97180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27889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y no funcionales (KPIs)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20640" y="1554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0033A0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21208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57800" y="27889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tecnologías: Wi-Fi, LTE/5G, óptica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951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60920" y="1554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E6F0FA"/>
          </a:solidFill>
          <a:ln/>
        </p:spPr>
      </p:sp>
      <p:sp>
        <p:nvSpPr>
          <p:cNvPr id="20" name="Text 18"/>
          <p:cNvSpPr/>
          <p:nvPr/>
        </p:nvSpPr>
        <p:spPr>
          <a:xfrm>
            <a:off x="736092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45236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0" y="27889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NS-3 con geometría real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354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01200" y="1554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0033A0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69264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38360" y="27889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con TamoGraph y análisis de idoneidad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partió del usuario (el operador y su seguridad) y avanzó de forma iterativa hasta un prototipo simulado y validado.</a:t>
            </a:r>
            <a:endParaRPr lang="en-US" sz="1500" dirty="0"/>
          </a:p>
        </p:txBody>
      </p:sp>
      <p:pic>
        <p:nvPicPr>
          <p:cNvPr id="29" name="Image 0" descr="C:/Users/Adrian Lopez/Documents/tesis_proyecto/fase4/presentacion/plano_nv1640_p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4617720"/>
            <a:ext cx="7772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74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hice · 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arquitectura de la solución</a:t>
            </a:r>
            <a:endParaRPr lang="en-US" sz="3000" dirty="0"/>
          </a:p>
        </p:txBody>
      </p:sp>
      <p:pic>
        <p:nvPicPr>
          <p:cNvPr id="4" name="Image 0" descr="C:/Users/Adrian Lopez/Documents/tesis_proyecto/fase4/presentacion/arquitectura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5544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6F0FA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control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01000" y="2057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de teleoperación en superficie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27432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6F0FA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óptico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01000" y="3246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Anillo de fibra + switches industriales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39319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6F0FA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 de acceso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01000" y="4434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 Hawk + 7 AP Cardinal (802.11ac)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0" y="51206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6F0FA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5257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 LHD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001000" y="5623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embarcado + antena HELI-40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3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74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todos los KPIs se cumplen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ejecuciones · 10 semillas independientes · media ± intervalo de confianza al 95 %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2275C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OWD comandos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3.04 ms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</a:t>
            </a:r>
            <a:pPr indent="0" marL="0">
              <a:buNone/>
            </a:pPr>
            <a:r>
              <a:rPr lang="en-US" sz="12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 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2275C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vídeo E2E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35.9 ms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</a:t>
            </a:r>
            <a:pPr indent="0" marL="0">
              <a:buNone/>
            </a:pPr>
            <a:r>
              <a:rPr lang="en-US" sz="12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150 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2275C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P95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514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 ms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2104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</a:t>
            </a:r>
            <a:pPr indent="0" marL="0">
              <a:buNone/>
            </a:pPr>
            <a:r>
              <a:rPr lang="en-US" sz="12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2275C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vídeo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663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40.1 Mbps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22960" y="5532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</a:t>
            </a:r>
            <a:pPr indent="0" marL="0">
              <a:buNone/>
            </a:pPr>
            <a:r>
              <a:rPr lang="en-US" sz="12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38 Mbps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41148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2275C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PLR comandos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663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0.06 %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4572000" y="5532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</a:t>
            </a:r>
            <a:pPr indent="0" marL="0">
              <a:buNone/>
            </a:pPr>
            <a:r>
              <a:rPr lang="en-US" sz="12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0.5 %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41148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2275C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4663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8321040" y="5532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</a:t>
            </a:r>
            <a:pPr indent="0" marL="0">
              <a:buNone/>
            </a:pPr>
            <a:r>
              <a:rPr lang="en-US" sz="12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99.9 %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74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red cubre todo el recorrido del vehículo</a:t>
            </a:r>
            <a:endParaRPr lang="en-US" sz="2800" dirty="0"/>
          </a:p>
        </p:txBody>
      </p:sp>
      <p:pic>
        <p:nvPicPr>
          <p:cNvPr id="4" name="Image 0" descr="C:/Users/Adrian Lopez/Documents/tesis_proyecto/fase4/presentacion/grafico_rssi_asoci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40664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81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enlace de servicio nunca cae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138160" y="21031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todo el ciclo de operación, el nivel de señal del enlace se mantiene 9.9 dB por encima del umbral mínimo utilizable.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138160" y="35661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6F0FA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0" y="37033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−72.1 dBm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138160" y="4343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nivel de señal registrado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(margen de 9.9 dB sobre el umbral)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roaming estable tipo make-before-break: el enlace se mantiene durante el desplazamiento continuo del LHD.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74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diseño resiste condiciones de estrés</a:t>
            </a:r>
            <a:endParaRPr lang="en-US" sz="2800" dirty="0"/>
          </a:p>
        </p:txBody>
      </p:sp>
      <p:pic>
        <p:nvPicPr>
          <p:cNvPr id="4" name="Image 0" descr="C:/Users/Adrian Lopez/Documents/tesis_proyecto/fase4/presentacion/resultados_e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280160"/>
            <a:ext cx="923544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 elevando el vídeo a 50 Mbps o la velocidad a 4 m/s, la red mantiene los criterios de aceptación: hay margen de diseño verificable.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74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solución idónea en todas sus dimensiones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E6F0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55648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6002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KPIs cumplen con margen y respaldo estadístico.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E6F0FA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990088"/>
            <a:ext cx="457200" cy="45720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28346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322783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incremental sobre la infraestructura existente; despliegue gradual.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E6F0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406908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446227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5 GHz de uso libre; alineada al reglamento de seguridad minera.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E6F0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5458968"/>
            <a:ext cx="457200" cy="457200"/>
          </a:xfrm>
          <a:prstGeom prst="ellipse">
            <a:avLst/>
          </a:prstGeom>
          <a:solidFill>
            <a:srgbClr val="C8860B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53035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y social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569671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 al trabajador del riesgo; gestión responsable del cambio.</a:t>
            </a:r>
            <a:endParaRPr lang="en-US" sz="1250" dirty="0"/>
          </a:p>
        </p:txBody>
      </p:sp>
      <p:pic>
        <p:nvPicPr>
          <p:cNvPr id="20" name="Image 0" descr="C:/Users/Adrian Lopez/Documents/tesis_proyecto/fase4/presentacion/fig_capex_op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011680"/>
            <a:ext cx="40233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3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final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Diseñé una red que puede sacar a una persona</a:t>
            </a:r>
            <a:endParaRPr lang="en-US" sz="3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zona de peligro dentro de una mina.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demostré, con evidencia reproducible, que es viable.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2275C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663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validada sobre la geometría real, con todos los KPIs cumplidos y trazabilidad completa.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393192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2275C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4663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integrar propagación, redes y análisis de idoneidad; y a defender cada decisión con datos.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393192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2275C"/>
          </a:solidFill>
          <a:ln w="12700">
            <a:solidFill>
              <a:srgbClr val="5AA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66760" y="4663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camino replicable hacia una minería peruana más segura — y la base para un artículo de investigación.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3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Álvaro López Pascual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una red IEEE 802.11ac para la teleoperación de un vehículo LHD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2026-07-15T02:09:57Z</dcterms:created>
  <dcterms:modified xsi:type="dcterms:W3CDTF">2026-07-15T02:09:57Z</dcterms:modified>
</cp:coreProperties>
</file>